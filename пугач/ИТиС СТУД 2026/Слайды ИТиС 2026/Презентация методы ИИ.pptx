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0548B-D4A5-41E1-8253-3597E4EA3FE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97875-769F-440A-97A2-C6BD98422C5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lated.turbopages.org/proxy_u/en-ru.ru.9f8d2aca-67100f56-bf42fb41-74722d776562/https/en.wikipedia.org/wiki/Brute_force_search" TargetMode="External"/><Relationship Id="rId7" Type="http://schemas.openxmlformats.org/officeDocument/2006/relationships/hyperlink" Target="https://translated.turbopages.org/proxy_u/en-ru.ru.756bdba4-674e2d09-944972d8-74722d776562/https/en.wikipedia.org/wiki/Graph_(discrete_mathematics)" TargetMode="External"/><Relationship Id="rId2" Type="http://schemas.openxmlformats.org/officeDocument/2006/relationships/hyperlink" Target="https://translated.turbopages.org/proxy_u/en-ru.ru.9f8d2aca-67100f56-bf42fb41-74722d776562/https/en.wikipedia.org/wiki/Search_algorith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anslated.turbopages.org/proxy_u/en-ru.ru.9f8d2aca-67100f56-bf42fb41-74722d776562/https/en.wikipedia.org/wiki/Depth-first_search" TargetMode="External"/><Relationship Id="rId5" Type="http://schemas.openxmlformats.org/officeDocument/2006/relationships/hyperlink" Target="https://translated.turbopages.org/proxy_u/en-ru.ru.9f8d2aca-67100f56-bf42fb41-74722d776562/https/en.wikipedia.org/wiki/Breadth-first_search" TargetMode="External"/><Relationship Id="rId4" Type="http://schemas.openxmlformats.org/officeDocument/2006/relationships/hyperlink" Target="https://translated.turbopages.org/proxy_u/en-ru.ru.9f8d2aca-67100f56-bf42fb41-74722d776562/https/en.wikipedia.org/wiki/Search_tree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slated.turbopages.org/proxy_u/en-ru.ru.9f8d2aca-67100f56-bf42fb41-74722d776562/https/en.wikipedia.org/wiki/Search_algorithm" TargetMode="External"/><Relationship Id="rId3" Type="http://schemas.openxmlformats.org/officeDocument/2006/relationships/hyperlink" Target="https://translated.turbopages.org/proxy_u/en-ru.ru.9f8d2aca-67100f56-bf42fb41-74722d776562/https/en.wikipedia.org/wiki/A*_search_algorithm" TargetMode="External"/><Relationship Id="rId7" Type="http://schemas.openxmlformats.org/officeDocument/2006/relationships/hyperlink" Target="https://translated.turbopages.org/proxy_u/en-ru.ru.9f8d2aca-67100f56-bf42fb41-74722d776562/https/en.wikipedia.org/wiki/Pruning_(algorithm)" TargetMode="External"/><Relationship Id="rId2" Type="http://schemas.openxmlformats.org/officeDocument/2006/relationships/hyperlink" Target="https://translated.turbopages.org/proxy_u/en-ru.ru.9f8d2aca-67100f56-bf42fb41-74722d776562/https/en.wikipedia.org/wiki/Best-first_search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anslated.turbopages.org/proxy_u/en-ru.ru.9f8d2aca-67100f56-bf42fb41-74722d776562/https/en.wikipedia.org/wiki/Heuristics" TargetMode="External"/><Relationship Id="rId5" Type="http://schemas.openxmlformats.org/officeDocument/2006/relationships/hyperlink" Target="https://translated.turbopages.org/proxy_u/en-ru.ru.95231ad9-674e3159-7f2c1742-74722d776562/https/en.wikipedia.org/wiki/Shortest_path_problem" TargetMode="External"/><Relationship Id="rId4" Type="http://schemas.openxmlformats.org/officeDocument/2006/relationships/hyperlink" Target="https://translated.turbopages.org/proxy_u/en-ru.ru.95231ad9-674e3159-7f2c1742-74722d776562/https/en.wikipedia.org/wiki/Graph_traversa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slated.turbopages.org/proxy_u/en-ru.ru.9f8d2aca-67100f56-bf42fb41-74722d776562/https/en.wikipedia.org/wiki/Means%E2%80%93ends_analysis" TargetMode="External"/><Relationship Id="rId3" Type="http://schemas.openxmlformats.org/officeDocument/2006/relationships/hyperlink" Target="https://translated.turbopages.org/proxy_u/en-ru.ru.9f8d2aca-67100f56-bf42fb41-74722d776562/https/en.wikipedia.org/wiki/Rule_based_system" TargetMode="External"/><Relationship Id="rId7" Type="http://schemas.openxmlformats.org/officeDocument/2006/relationships/hyperlink" Target="https://translated.turbopages.org/proxy_u/en-ru.ru.9f8d2aca-67100f56-bf42fb41-74722d776562/https/en.wikipedia.org/wiki/State_space_search" TargetMode="External"/><Relationship Id="rId2" Type="http://schemas.openxmlformats.org/officeDocument/2006/relationships/hyperlink" Target="https://translated.turbopages.org/proxy_u/en-ru.ru.9f8d2aca-67100f56-bf42fb41-74722d776562/https/en.wikipedia.org/wiki/Minmax_algorith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anslated.turbopages.org/proxy_u/en-ru.ru.9f8d2aca-67100f56-bf42fb41-74722d776562/https/en.wikipedia.org/wiki/Backward_chaining" TargetMode="External"/><Relationship Id="rId5" Type="http://schemas.openxmlformats.org/officeDocument/2006/relationships/hyperlink" Target="https://translated.turbopages.org/proxy_u/en-ru.ru.9f8d2aca-67100f56-bf42fb41-74722d776562/https/en.wikipedia.org/wiki/Forward_chaining" TargetMode="External"/><Relationship Id="rId4" Type="http://schemas.openxmlformats.org/officeDocument/2006/relationships/hyperlink" Target="https://translated.turbopages.org/proxy_u/en-ru.ru.9f8d2aca-67100f56-bf42fb41-74722d776562/https/en.wikipedia.org/wiki/Horn_clause" TargetMode="External"/><Relationship Id="rId9" Type="http://schemas.openxmlformats.org/officeDocument/2006/relationships/hyperlink" Target="https://translated.turbopages.org/proxy_u/en-ru.ru.9f8d2aca-67100f56-bf42fb41-74722d776562/https/en.wikipedia.org/wiki/Search_algorithm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slated.turbopages.org/proxy_u/en-ru.ru.9f8d2aca-67100f56-bf42fb41-74722d776562/https/en.wikipedia.org/wiki/Random_optimization" TargetMode="External"/><Relationship Id="rId3" Type="http://schemas.openxmlformats.org/officeDocument/2006/relationships/hyperlink" Target="https://translated.turbopages.org/proxy_u/en-ru.ru.9f8d2aca-67100f56-bf42fb41-74722d776562/https/en.wikipedia.org/wiki/Hill_climbing" TargetMode="External"/><Relationship Id="rId7" Type="http://schemas.openxmlformats.org/officeDocument/2006/relationships/hyperlink" Target="https://ru.wikipedia.org/w/index.php?title=%D0%90%D0%BB%D0%B3%D0%BE%D1%80%D0%B8%D1%82%D0%BC_%D0%BF%D0%BE%D0%B8%D1%81%D0%BA%D0%B0&amp;action=edit&amp;redlink=1" TargetMode="External"/><Relationship Id="rId2" Type="http://schemas.openxmlformats.org/officeDocument/2006/relationships/hyperlink" Target="https://translated.turbopages.org/proxy_u/en-ru.ru.9f8d2aca-67100f56-bf42fb41-74722d776562/https/en.wikipedia.org/wiki/Optimization_(mathematics)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u.wikipedia.org/wiki/%D0%AD%D0%B2%D1%80%D0%B8%D1%81%D1%82%D0%B8%D1%87%D0%B5%D1%81%D0%BA%D0%B8%D0%B9_%D0%B0%D0%BB%D0%B3%D0%BE%D1%80%D0%B8%D1%82%D0%BC" TargetMode="External"/><Relationship Id="rId11" Type="http://schemas.openxmlformats.org/officeDocument/2006/relationships/hyperlink" Target="https://translated.turbopages.org/proxy_u/en-ru.ru.60df43b0-674e4213-86030eb8-74722d776562/https/en.wikipedia.org/wiki/Differentiable_function" TargetMode="External"/><Relationship Id="rId5" Type="http://schemas.openxmlformats.org/officeDocument/2006/relationships/hyperlink" Target="https://translated.turbopages.org/proxy_u/en-ru.ru.9f8d2aca-67100f56-bf42fb41-74722d776562/https/en.wikipedia.org/wiki/Beam_search" TargetMode="External"/><Relationship Id="rId10" Type="http://schemas.openxmlformats.org/officeDocument/2006/relationships/hyperlink" Target="https://translated.turbopages.org/proxy_u/en-ru.ru.60df43b0-674e4213-86030eb8-74722d776562/https/en.wikipedia.org/wiki/Continuous_function" TargetMode="External"/><Relationship Id="rId4" Type="http://schemas.openxmlformats.org/officeDocument/2006/relationships/hyperlink" Target="https://translated.turbopages.org/proxy_u/en-ru.ru.9f8d2aca-67100f56-bf42fb41-74722d776562/https/en.wikipedia.org/wiki/Simulated_annealing" TargetMode="External"/><Relationship Id="rId9" Type="http://schemas.openxmlformats.org/officeDocument/2006/relationships/hyperlink" Target="https://translated.turbopages.org/proxy_u/en-ru.ru.60df43b0-674e4213-86030eb8-74722d776562/https/en.wikipedia.org/wiki/Derivative-free_optimization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9C%D0%B5%D1%82%D0%BE%D0%B4_%D0%9C%D0%BE%D0%BD%D1%82%D0%B5-%D0%9A%D0%B0%D1%80%D0%BB%D0%BE" TargetMode="External"/><Relationship Id="rId3" Type="http://schemas.openxmlformats.org/officeDocument/2006/relationships/hyperlink" Target="https://translated.turbopages.org/proxy_u/en-ru.ru.9f8d2aca-67100f56-bf42fb41-74722d776562/https/en.wikipedia.org/wiki/Genetic_algorithms" TargetMode="External"/><Relationship Id="rId7" Type="http://schemas.openxmlformats.org/officeDocument/2006/relationships/hyperlink" Target="https://ru.wikipedia.org/wiki/%D0%9E%D0%BF%D1%82%D0%B8%D0%BC%D0%B8%D0%B7%D0%B0%D1%86%D0%B8%D1%8F_(%D0%BC%D0%B0%D1%82%D0%B5%D0%BC%D0%B0%D1%82%D0%B8%D0%BA%D0%B0)" TargetMode="External"/><Relationship Id="rId2" Type="http://schemas.openxmlformats.org/officeDocument/2006/relationships/hyperlink" Target="https://translated.turbopages.org/proxy_u/en-ru.ru.9f8d2aca-67100f56-bf42fb41-74722d776562/https/en.wikipedia.org/wiki/Evolutionary_computatio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anslated.turbopages.org/proxy_u/en-ru.ru.9f8d2aca-67100f56-bf42fb41-74722d776562/https/en.wikipedia.org/wiki/Differential_evolution" TargetMode="External"/><Relationship Id="rId5" Type="http://schemas.openxmlformats.org/officeDocument/2006/relationships/hyperlink" Target="https://translated.turbopages.org/proxy_u/en-ru.ru.9f8d2aca-67100f56-bf42fb41-74722d776562/https/en.wikipedia.org/wiki/Genetic_programming" TargetMode="External"/><Relationship Id="rId4" Type="http://schemas.openxmlformats.org/officeDocument/2006/relationships/hyperlink" Target="https://translated.turbopages.org/proxy_u/en-ru.ru.9f8d2aca-67100f56-bf42fb41-74722d776562/https/en.wikipedia.org/wiki/Gene_expression_programming" TargetMode="External"/><Relationship Id="rId9" Type="http://schemas.openxmlformats.org/officeDocument/2006/relationships/hyperlink" Target="https://ru.wikipedia.org/wiki/%D0%93%D0%B5%D0%BD%D0%B5%D1%82%D0%B8%D1%87%D0%B5%D1%81%D0%BA%D0%B8%D0%B9_%D0%B0%D0%BB%D0%B3%D0%BE%D1%80%D0%B8%D1%82%D0%BC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slated.turbopages.org/proxy_u/en-ru.ru.9f8d2aca-67100f56-bf42fb41-74722d776562/https/en.wikipedia.org/wiki/Particle_swarm_optimization" TargetMode="External"/><Relationship Id="rId3" Type="http://schemas.openxmlformats.org/officeDocument/2006/relationships/hyperlink" Target="https://ru.ruwiki.ru/wiki/%D0%9A%D0%BE%D0%BB%D0%BB%D0%B5%D0%BA%D1%82%D0%B8%D0%B2%D0%BD%D0%BE%D0%B5_%D0%BF%D0%BE%D0%B2%D0%B5%D0%B4%D0%B5%D0%BD%D0%B8%D0%B5" TargetMode="External"/><Relationship Id="rId7" Type="http://schemas.openxmlformats.org/officeDocument/2006/relationships/hyperlink" Target="https://ru.wikipedia.org/wiki/&#1056;&#1086;&#1077;&#1074;&#1086;&#1081;_&#1080;&#1085;&#1090;&#1077;&#1083;&#1083;&#1077;&#1082;&#1090;" TargetMode="External"/><Relationship Id="rId2" Type="http://schemas.openxmlformats.org/officeDocument/2006/relationships/hyperlink" Target="https://translated.turbopages.org/proxy_u/en-ru.ru.9f8d2aca-67100f56-bf42fb41-74722d776562/https/en.wikipedia.org/wiki/Swarm_intelligenc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u.ruwiki.ru/wiki/%D0%9E%D0%BF%D1%82%D0%B8%D0%BC%D0%B8%D0%B7%D0%B0%D1%86%D0%B8%D1%8F" TargetMode="External"/><Relationship Id="rId5" Type="http://schemas.openxmlformats.org/officeDocument/2006/relationships/hyperlink" Target="https://ru.ruwiki.ru/wiki/%D0%A1%D0%B0%D0%BC%D0%BE%D0%BE%D1%80%D0%B3%D0%B0%D0%BD%D0%B8%D0%B7%D0%B0%D1%86%D0%B8%D1%8F" TargetMode="External"/><Relationship Id="rId10" Type="http://schemas.openxmlformats.org/officeDocument/2006/relationships/hyperlink" Target="https://translated.turbopages.org/proxy_u/en-ru.ru.9f8d2aca-67100f56-bf42fb41-74722d776562/https/en.wikipedia.org/wiki/Metaheuristic" TargetMode="External"/><Relationship Id="rId4" Type="http://schemas.openxmlformats.org/officeDocument/2006/relationships/hyperlink" Target="https://ru.ruwiki.ru/wiki/%D0%94%D0%B5%D1%86%D0%B5%D0%BD%D1%82%D1%80%D0%B0%D0%BB%D0%B8%D0%B7%D0%B0%D1%86%D0%B8%D1%8F" TargetMode="External"/><Relationship Id="rId9" Type="http://schemas.openxmlformats.org/officeDocument/2006/relationships/hyperlink" Target="https://translated.turbopages.org/proxy_u/en-ru.ru.9f8d2aca-67100f56-bf42fb41-74722d776562/https/en.wikipedia.org/wiki/Ant_colony_optimizatio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lated.turbopages.org/proxy_u/en-ru.ru.9f8d2aca-67100f56-bf42fb41-74722d776562/https/en.wikipedia.org/wiki/Automated_reasoning" TargetMode="External"/><Relationship Id="rId2" Type="http://schemas.openxmlformats.org/officeDocument/2006/relationships/hyperlink" Target="https://translated.turbopages.org/proxy_u/en-ru.ru.9f8d2aca-67100f56-bf42fb41-74722d776562/https/en.wikipedia.org/wiki/Logic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ranslated.turbopages.org/proxy_u/en-ru.ru.9f8d2aca-67100f56-bf42fb41-74722d776562/https/en.wikipedia.org/wiki/Logic_programmin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lated.turbopages.org/proxy_u/en-ru.ru.9f8d2aca-67100f56-bf42fb41-74722d776562/https/en.wikipedia.org/wiki/First-order_logic" TargetMode="External"/><Relationship Id="rId2" Type="http://schemas.openxmlformats.org/officeDocument/2006/relationships/hyperlink" Target="https://translated.turbopages.org/proxy_u/en-ru.ru.9f8d2aca-67100f56-bf42fb41-74722d776562/https/en.wikipedia.org/wiki/Propositional_logic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ranslated.turbopages.org/proxy_u/en-ru.ru.9f8d2aca-67100f56-bf42fb41-74722d776562/https/en.wikipedia.org/wiki/Automated_reasoning" TargetMode="External"/><Relationship Id="rId4" Type="http://schemas.openxmlformats.org/officeDocument/2006/relationships/hyperlink" Target="https://translated.turbopages.org/proxy_u/en-ru.ru.9f8d2aca-67100f56-bf42fb41-74722d776562/https/en.wikipedia.org/wiki/Logic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slated.turbopages.org/proxy_u/en-ru.ru.9f8d2aca-67100f56-bf42fb41-74722d776562/https/en.wikipedia.org/wiki/Ordered_weighted_averaging_aggregation_operator" TargetMode="External"/><Relationship Id="rId13" Type="http://schemas.openxmlformats.org/officeDocument/2006/relationships/hyperlink" Target="https://translated.turbopages.org/proxy_u/en-ru.ru.9f8d2aca-67100f56-bf42fb41-74722d776562/https/en.wikipedia.org/wiki/Automated_reasoning" TargetMode="External"/><Relationship Id="rId3" Type="http://schemas.openxmlformats.org/officeDocument/2006/relationships/hyperlink" Target="https://translated.turbopages.org/proxy_u/en-ru.ru.9f8d2aca-67100f56-bf42fb41-74722d776562/https/en.wikipedia.org/wiki/Fuzzy_set_theory" TargetMode="External"/><Relationship Id="rId7" Type="http://schemas.openxmlformats.org/officeDocument/2006/relationships/hyperlink" Target="https://translated.turbopages.org/proxy_u/en-ru.ru.d9296988-674e4f87-ba97096b-74722d776562/https/en.wikipedia.org/wiki/Combinatorial_explosion" TargetMode="External"/><Relationship Id="rId12" Type="http://schemas.openxmlformats.org/officeDocument/2006/relationships/hyperlink" Target="https://translated.turbopages.org/proxy_u/en-ru.ru.9f8d2aca-67100f56-bf42fb41-74722d776562/https/en.wikipedia.org/wiki/Logic" TargetMode="External"/><Relationship Id="rId2" Type="http://schemas.openxmlformats.org/officeDocument/2006/relationships/hyperlink" Target="https://translated.turbopages.org/proxy_u/en-ru.ru.9f8d2aca-67100f56-bf42fb41-74722d776562/https/en.wikipedia.org/wiki/Fuzzy_logic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anslated.turbopages.org/proxy_u/en-ru.ru.d9296988-674e4f87-ba97096b-74722d776562/https/en.wikipedia.org/wiki/Fuzzy_logic" TargetMode="External"/><Relationship Id="rId11" Type="http://schemas.openxmlformats.org/officeDocument/2006/relationships/hyperlink" Target="https://translated.turbopages.org/proxy_u/en-ru.ru.be977497-674e5144-23cd22a6-74722d776562/https/en.wikipedia.org/wiki/Computing_with_words_and_perceptions" TargetMode="External"/><Relationship Id="rId5" Type="http://schemas.openxmlformats.org/officeDocument/2006/relationships/hyperlink" Target="https://translated.turbopages.org/proxy_u/en-ru.ru.9f8d2aca-67100f56-bf42fb41-74722d776562/https/en.wikipedia.org/wiki/Combs_method" TargetMode="External"/><Relationship Id="rId10" Type="http://schemas.openxmlformats.org/officeDocument/2006/relationships/hyperlink" Target="https://translated.turbopages.org/proxy_u/en-ru.ru.be977497-674e5144-23cd22a6-74722d776562/https/en.wikipedia.org/wiki/Lotfi_A._Zadeh" TargetMode="External"/><Relationship Id="rId4" Type="http://schemas.openxmlformats.org/officeDocument/2006/relationships/hyperlink" Target="https://translated.turbopages.org/proxy_u/en-ru.ru.9f8d2aca-67100f56-bf42fb41-74722d776562/https/en.wikipedia.org/wiki/Fuzzy_systems" TargetMode="External"/><Relationship Id="rId9" Type="http://schemas.openxmlformats.org/officeDocument/2006/relationships/hyperlink" Target="https://translated.turbopages.org/proxy_u/en-ru.ru.9f8d2aca-67100f56-bf42fb41-74722d776562/https/en.wikipedia.org/wiki/Perceptual_Computi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lated.turbopages.org/proxy_u/en-ru.ru.9f8d2aca-67100f56-bf42fb41-74722d776562/https/en.wikipedia.org/wiki/Non-monotonic_logic" TargetMode="External"/><Relationship Id="rId7" Type="http://schemas.openxmlformats.org/officeDocument/2006/relationships/hyperlink" Target="https://translated.turbopages.org/proxy_u/en-ru.ru.9f8d2aca-67100f56-bf42fb41-74722d776562/https/en.wikipedia.org/wiki/Default_logic" TargetMode="External"/><Relationship Id="rId2" Type="http://schemas.openxmlformats.org/officeDocument/2006/relationships/hyperlink" Target="https://translated.turbopages.org/proxy_u/en-ru.ru.9f8d2aca-67100f56-bf42fb41-74722d776562/https/en.wikipedia.org/wiki/Default_reasoni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u.wikipedia.org/w/index.php?title=%D0%9F%D0%B5%D1%80%D0%B5%D1%81%D0%BC%D0%BE%D1%82%D1%80_%D1%83%D0%B1%D0%B5%D0%B6%D0%B4%D0%B5%D0%BD%D0%B8%D0%B9&amp;action=edit&amp;redlink=1" TargetMode="External"/><Relationship Id="rId5" Type="http://schemas.openxmlformats.org/officeDocument/2006/relationships/hyperlink" Target="https://ru.wikipedia.org/wiki/%D0%90%D0%B1%D0%B4%D1%83%D0%BA%D1%86%D0%B8%D1%8F_(%D0%BB%D0%BE%D0%B3%D0%B8%D0%BA%D0%B0)" TargetMode="External"/><Relationship Id="rId4" Type="http://schemas.openxmlformats.org/officeDocument/2006/relationships/hyperlink" Target="https://ru.wikipedia.org/w/index.php?title=%D0%94%D0%B5%D1%84%D0%BE%D0%BB%D1%82%D0%BD%D0%B0%D1%8F_%D0%BB%D0%BE%D0%B3%D0%B8%D0%BA%D0%B0&amp;action=edit&amp;redlink=1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lated.turbopages.org/proxy_u/en-ru.ru.9f8d2aca-67100f56-bf42fb41-74722d776562/https/en.wikipedia.org/wiki/Circumscription_(logic)" TargetMode="External"/><Relationship Id="rId2" Type="http://schemas.openxmlformats.org/officeDocument/2006/relationships/hyperlink" Target="https://translated.turbopages.org/proxy_u/en-ru.ru.9f8d2aca-67100f56-bf42fb41-74722d776562/https/en.wikipedia.org/wiki/Default_reasoning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ranslated.turbopages.org/proxy_u/en-ru.ru.9f8d2aca-67100f56-bf42fb41-74722d776562/https/en.wikipedia.org/wiki/Closed_world_assumption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slated.turbopages.org/proxy_u/en-ru.ru.9f8d2aca-67100f56-bf42fb41-74722d776562/https/en.wikipedia.org/wiki/Scripts_(artificial_intelligence)" TargetMode="External"/><Relationship Id="rId3" Type="http://schemas.openxmlformats.org/officeDocument/2006/relationships/hyperlink" Target="https://translated.turbopages.org/proxy_u/en-ru.ru.9f8d2aca-67100f56-bf42fb41-74722d776562/https/en.wikipedia.org/wiki/Semantic_network" TargetMode="External"/><Relationship Id="rId7" Type="http://schemas.openxmlformats.org/officeDocument/2006/relationships/hyperlink" Target="https://ru.wikipedia.org/wiki/%D0%A4%D1%80%D0%B5%D0%B9%D0%BC_(%D0%B8%D0%BD%D0%B6%D0%B5%D0%BD%D0%B5%D1%80%D0%B8%D1%8F_%D0%B7%D0%BD%D0%B0%D0%BD%D0%B8%D0%B9)" TargetMode="External"/><Relationship Id="rId2" Type="http://schemas.openxmlformats.org/officeDocument/2006/relationships/hyperlink" Target="https://translated.turbopages.org/proxy_u/en-ru.ru.9f8d2aca-67100f56-bf42fb41-74722d776562/https/en.wikipedia.org/wiki/Description_logic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u.wikipedia.org/wiki/%D0%98%D0%BD%D1%84%D0%BE%D1%80%D0%BC%D0%B0%D1%86%D0%B8%D1%8F" TargetMode="External"/><Relationship Id="rId5" Type="http://schemas.openxmlformats.org/officeDocument/2006/relationships/hyperlink" Target="https://translated.turbopages.org/proxy_u/en-ru.ru.9f8d2aca-67100f56-bf42fb41-74722d776562/https/en.wikipedia.org/wiki/Frame_(artificial_intelligence)" TargetMode="External"/><Relationship Id="rId4" Type="http://schemas.openxmlformats.org/officeDocument/2006/relationships/hyperlink" Target="https://translated.turbopages.org/proxy_u/en-ru.ru.9f8d2aca-67100f56-bf42fb41-74722d776562/https/en.wikipedia.org/wiki/Inheritance_(object-oriented_programming)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d.turbopages.org/proxy_u/en-ru.ru.9f8d2aca-67100f56-bf42fb41-74722d776562/https/en.wikipedia.org/wiki/Situation_calculus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d.turbopages.org/proxy_u/en-ru.ru.9f8d2aca-67100f56-bf42fb41-74722d776562/https/en.wikipedia.org/wiki/Event_calculus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d.turbopages.org/proxy_u/en-ru.ru.9f8d2aca-67100f56-bf42fb41-74722d776562/https/en.wikipedia.org/wiki/Fluent_calculus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d.turbopages.org/proxy_u/en-ru.ru.9f8d2aca-67100f56-bf42fb41-74722d776562/https/en.wikipedia.org/wiki/Causality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lated.turbopages.org/proxy_u/en-ru.ru.9f8d2aca-67100f56-bf42fb41-74722d776562/https/en.wikipedia.org/wiki/Modal_logic" TargetMode="External"/><Relationship Id="rId2" Type="http://schemas.openxmlformats.org/officeDocument/2006/relationships/hyperlink" Target="https://translated.turbopages.org/proxy_u/en-ru.ru.9f8d2aca-67100f56-bf42fb41-74722d776562/https/en.wikipedia.org/wiki/Belief_revision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ranslated.turbopages.org/proxy_u/en-ru.ru.9f8d2aca-67100f56-bf42fb41-74722d776562/https/en.wikipedia.org/wiki/Paraconsistent_logic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d.turbopages.org/proxy_u/en-ru.ru.9f8d2aca-67100f56-bf42fb41-74722d776562/https/en.wikipedia.org/wiki/Inductive_logic_programming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lated.turbopages.org/proxy_u/en-ru.ru.9f8d2aca-67100f56-bf42fb41-74722d776562/https/en.wikipedia.org/w/index.php?title=Relevance_based_learning&amp;action=edit&amp;redlink=1" TargetMode="External"/><Relationship Id="rId2" Type="http://schemas.openxmlformats.org/officeDocument/2006/relationships/hyperlink" Target="https://translated.turbopages.org/proxy_u/en-ru.ru.9f8d2aca-67100f56-bf42fb41-74722d776562/https/en.wikipedia.org/wiki/Explanation_based_learning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lated.turbopages.org/proxy_u/en-ru.ru.9f8d2aca-67100f56-bf42fb41-74722d776562/https/en.wikipedia.org/wiki/Automated_theorem_proving" TargetMode="External"/><Relationship Id="rId2" Type="http://schemas.openxmlformats.org/officeDocument/2006/relationships/hyperlink" Target="https://translated.turbopages.org/proxy_u/en-ru.ru.9f8d2aca-67100f56-bf42fb41-74722d776562/https/en.wikipedia.org/wiki/Case_based_reasoning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slated.turbopages.org/proxy_u/en-ru.ru.9f8d2aca-67100f56-bf42fb41-74722d776562/https/en.wikipedia.org/wiki/Dynamic_Bayesian_network" TargetMode="External"/><Relationship Id="rId3" Type="http://schemas.openxmlformats.org/officeDocument/2006/relationships/hyperlink" Target="https://translated.turbopages.org/proxy_u/en-ru.ru.9f8d2aca-67100f56-bf42fb41-74722d776562/https/en.wikipedia.org/wiki/Bayesian_inference" TargetMode="External"/><Relationship Id="rId7" Type="http://schemas.openxmlformats.org/officeDocument/2006/relationships/hyperlink" Target="https://translated.turbopages.org/proxy_u/en-ru.ru.9f8d2aca-67100f56-bf42fb41-74722d776562/https/en.wikipedia.org/wiki/Decision_network" TargetMode="External"/><Relationship Id="rId2" Type="http://schemas.openxmlformats.org/officeDocument/2006/relationships/hyperlink" Target="https://translated.turbopages.org/proxy_u/en-ru.ru.9f8d2aca-67100f56-bf42fb41-74722d776562/https/en.wikipedia.org/wiki/Bayesian_network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anslated.turbopages.org/proxy_u/en-ru.ru.9f8d2aca-67100f56-bf42fb41-74722d776562/https/en.wikipedia.org/wiki/Bayesian_decision_theory" TargetMode="External"/><Relationship Id="rId11" Type="http://schemas.openxmlformats.org/officeDocument/2006/relationships/hyperlink" Target="https://translated.turbopages.org/proxy_u/en-ru.ru.9f8d2aca-67100f56-bf42fb41-74722d776562/https/en.wikipedia.org/wiki/Fuzzy_Logic" TargetMode="External"/><Relationship Id="rId5" Type="http://schemas.openxmlformats.org/officeDocument/2006/relationships/hyperlink" Target="https://translated.turbopages.org/proxy_u/en-ru.ru.9f8d2aca-67100f56-bf42fb41-74722d776562/https/en.wikipedia.org/wiki/Expectation-maximization_algorithm" TargetMode="External"/><Relationship Id="rId10" Type="http://schemas.openxmlformats.org/officeDocument/2006/relationships/hyperlink" Target="https://translated.turbopages.org/proxy_u/en-ru.ru.9f8d2aca-67100f56-bf42fb41-74722d776562/https/en.wikipedia.org/wiki/Kalman_filter" TargetMode="External"/><Relationship Id="rId4" Type="http://schemas.openxmlformats.org/officeDocument/2006/relationships/hyperlink" Target="https://translated.turbopages.org/proxy_u/en-ru.ru.9f8d2aca-67100f56-bf42fb41-74722d776562/https/en.wikipedia.org/wiki/Bayesian_learning" TargetMode="External"/><Relationship Id="rId9" Type="http://schemas.openxmlformats.org/officeDocument/2006/relationships/hyperlink" Target="https://translated.turbopages.org/proxy_u/en-ru.ru.9f8d2aca-67100f56-bf42fb41-74722d776562/https/en.wikipedia.org/wiki/Hidden_Markov_model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slated.turbopages.org/proxy_u/en-ru.ru.9f8d2aca-67100f56-bf42fb41-74722d776562/https/en.wikipedia.org/wiki/Algorithmic_information_theory" TargetMode="External"/><Relationship Id="rId3" Type="http://schemas.openxmlformats.org/officeDocument/2006/relationships/hyperlink" Target="https://translated.turbopages.org/proxy_u/en-ru.ru.9f8d2aca-67100f56-bf42fb41-74722d776562/https/en.wikipedia.org/wiki/Decision_analysis" TargetMode="External"/><Relationship Id="rId7" Type="http://schemas.openxmlformats.org/officeDocument/2006/relationships/hyperlink" Target="https://translated.turbopages.org/proxy_u/en-ru.ru.9f8d2aca-67100f56-bf42fb41-74722d776562/https/en.wikipedia.org/wiki/Mechanism_design" TargetMode="External"/><Relationship Id="rId2" Type="http://schemas.openxmlformats.org/officeDocument/2006/relationships/hyperlink" Target="https://translated.turbopages.org/proxy_u/en-ru.ru.9f8d2aca-67100f56-bf42fb41-74722d776562/https/en.wikipedia.org/wiki/Decision_theory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anslated.turbopages.org/proxy_u/en-ru.ru.9f8d2aca-67100f56-bf42fb41-74722d776562/https/en.wikipedia.org/wiki/Game_theory" TargetMode="External"/><Relationship Id="rId5" Type="http://schemas.openxmlformats.org/officeDocument/2006/relationships/hyperlink" Target="https://translated.turbopages.org/proxy_u/en-ru.ru.9f8d2aca-67100f56-bf42fb41-74722d776562/https/en.wikipedia.org/wiki/Decision_network" TargetMode="External"/><Relationship Id="rId4" Type="http://schemas.openxmlformats.org/officeDocument/2006/relationships/hyperlink" Target="https://translated.turbopages.org/proxy_u/en-ru.ru.9f8d2aca-67100f56-bf42fb41-74722d776562/https/en.wikipedia.org/wiki/Markov_decision_process" TargetMode="External"/><Relationship Id="rId9" Type="http://schemas.openxmlformats.org/officeDocument/2006/relationships/hyperlink" Target="https://translated.turbopages.org/proxy_u/en-ru.ru.9f8d2aca-67100f56-bf42fb41-74722d776562/https/en.wikipedia.org/wiki/Algorithmic_probabil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285720" y="214290"/>
          <a:ext cx="8715436" cy="6322462"/>
        </p:xfrm>
        <a:graphic>
          <a:graphicData uri="http://schemas.openxmlformats.org/drawingml/2006/table">
            <a:tbl>
              <a:tblPr/>
              <a:tblGrid>
                <a:gridCol w="1100786"/>
                <a:gridCol w="3399808"/>
                <a:gridCol w="4100466"/>
                <a:gridCol w="114376"/>
              </a:tblGrid>
              <a:tr h="713099">
                <a:tc gridSpan="4">
                  <a:txBody>
                    <a:bodyPr/>
                    <a:lstStyle/>
                    <a:p>
                      <a:pPr algn="ctr"/>
                      <a:r>
                        <a:rPr lang="ru-RU" sz="2400" b="1" i="1" dirty="0">
                          <a:solidFill>
                            <a:srgbClr val="76923C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Дискретные </a:t>
                      </a:r>
                      <a:r>
                        <a:rPr lang="ru-RU" sz="2400" b="1" i="1" u="none" strike="noStrike" dirty="0">
                          <a:solidFill>
                            <a:srgbClr val="76923C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2" tooltip="Алгоритм поиска"/>
                        </a:rPr>
                        <a:t>алгоритмы </a:t>
                      </a:r>
                      <a:r>
                        <a:rPr lang="ru-RU" sz="2400" b="1" i="1" u="none" strike="noStrike" dirty="0" smtClean="0">
                          <a:solidFill>
                            <a:srgbClr val="76923C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2" tooltip="Алгоритм поиска"/>
                        </a:rPr>
                        <a:t>поиска</a:t>
                      </a:r>
                      <a:endParaRPr lang="ru-RU" sz="2400" b="1" i="1" u="none" strike="noStrike" dirty="0" smtClean="0">
                        <a:solidFill>
                          <a:srgbClr val="76923C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ru-RU" sz="2400" b="1" kern="1200" dirty="0" err="1" smtClean="0">
                          <a:solidFill>
                            <a:srgbClr val="7030A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Неинформированный</a:t>
                      </a:r>
                      <a:r>
                        <a:rPr lang="ru-RU" sz="2400" b="1" kern="1200" dirty="0" smtClean="0">
                          <a:solidFill>
                            <a:srgbClr val="7030A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поиск</a:t>
                      </a:r>
                      <a:endParaRPr lang="ru-RU" sz="2400" dirty="0">
                        <a:solidFill>
                          <a:srgbClr val="7030A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9084" marR="390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393362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b="1" i="0" u="none" strike="noStrike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3" tooltip="Поиск методом перебора"/>
                        </a:rPr>
                        <a:t>Поиск методом перебора</a:t>
                      </a:r>
                      <a:endParaRPr lang="ru-RU" sz="2400" b="1" i="0" u="none" dirty="0">
                        <a:solidFill>
                          <a:srgbClr val="00206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9084" marR="390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Размер задачи ограничен или существуют эвристические методы для конкретной задачи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(т.е. учет опыта)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9084" marR="390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600" dirty="0"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928907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i="1" u="none" strike="noStrike" dirty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4" tooltip="Дерево поиска"/>
                        </a:rPr>
                        <a:t>Дерево поиска</a:t>
                      </a:r>
                      <a:endParaRPr lang="ru-RU" sz="2000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084" marR="390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5" tooltip="Поиск по ширине"/>
                        </a:rPr>
                        <a:t>Поиск по ширине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9084" marR="390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Предпочтение отдается узлу того же уровня.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Рекурсивный алгоритм.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9084" marR="390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600"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2890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6" tooltip="Поиск в глубину"/>
                        </a:rPr>
                        <a:t>Поиск в глубину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9084" marR="390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Предпочтение отдается узлу следующего уровня.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Рекурсивный алгоритм.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9084" marR="390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600" dirty="0"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22269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b="1" i="0" u="sng" dirty="0">
                          <a:solidFill>
                            <a:srgbClr val="0070C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Поиск в пространстве состояний</a:t>
                      </a:r>
                      <a:endParaRPr lang="ru-RU" sz="2400" i="0" u="sng" dirty="0">
                        <a:solidFill>
                          <a:srgbClr val="0070C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9084" marR="390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Рассматриваются последовательные состояния  с целью нахождения целевого состояния с желаемым свойством.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Набор состояний образует </a:t>
                      </a:r>
                      <a:r>
                        <a:rPr lang="ru-RU" sz="1800" b="1" u="none" strike="noStrike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7" tooltip="Граф (дискретная математика)"/>
                        </a:rPr>
                        <a:t>граф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9084" marR="390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600" dirty="0"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285720" y="1214422"/>
          <a:ext cx="8572560" cy="4714908"/>
        </p:xfrm>
        <a:graphic>
          <a:graphicData uri="http://schemas.openxmlformats.org/drawingml/2006/table">
            <a:tbl>
              <a:tblPr/>
              <a:tblGrid>
                <a:gridCol w="142876"/>
                <a:gridCol w="4000528"/>
                <a:gridCol w="4429156"/>
              </a:tblGrid>
              <a:tr h="1149977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20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2" tooltip="Лучший поиск в первую очередь"/>
                        </a:rPr>
                        <a:t>Лучший поиск в первую очередь</a:t>
                      </a:r>
                      <a:r>
                        <a:rPr lang="ru-RU" sz="2000" b="1" i="1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 </a:t>
                      </a:r>
                      <a:endParaRPr lang="ru-RU" sz="20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Используют функции оценки, чтобы решить, какое соседство является наиболее перспективным. </a:t>
                      </a:r>
                      <a:endParaRPr lang="ru-RU"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2801" marR="428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997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3" tooltip="A * алгоритм поиска"/>
                        </a:rPr>
                        <a:t>A * алгоритм поиска</a:t>
                      </a:r>
                      <a:endParaRPr lang="ru-RU" sz="20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4" tooltip="Обход графика"/>
                        </a:rPr>
                        <a:t>Алгоритм обхода графа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, находит </a:t>
                      </a:r>
                      <a:r>
                        <a:rPr lang="ru-RU" sz="1800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5" tooltip="Проблема кратчайшего пути"/>
                        </a:rPr>
                        <a:t>кратчайший путь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от источника к цели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(с учетом заданных весов).</a:t>
                      </a:r>
                      <a:endParaRPr lang="ru-RU"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2801" marR="428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65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6" tooltip="Эвристика"/>
                        </a:rPr>
                        <a:t>Эвристика</a:t>
                      </a:r>
                      <a:endParaRPr lang="ru-RU" sz="20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i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Алгоритм использует знания конкретной предметной области. 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801" marR="428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30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i="1" u="none" strike="noStrike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7" tooltip="Обрезка (алгоритм)"/>
                        </a:rPr>
                        <a:t>Обрезка (алгоритм)</a:t>
                      </a:r>
                      <a:endParaRPr lang="ru-RU" sz="20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Альфа-бета-обрезка</a:t>
                      </a:r>
                      <a:r>
                        <a:rPr lang="ru-RU" sz="18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уменьшает количество оцениваемых узлов в дереве </a:t>
                      </a: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r>
                        <a:rPr lang="ru-RU" sz="1800" b="1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за счёт устранения неперспективных ветвей)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.</a:t>
                      </a:r>
                      <a:endParaRPr lang="ru-RU"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2801" marR="428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714348" y="357167"/>
            <a:ext cx="80010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solidFill>
                  <a:srgbClr val="76923C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Дискретные </a:t>
            </a:r>
            <a:r>
              <a:rPr lang="ru-RU" sz="2400" b="1" i="1" u="none" strike="noStrike" dirty="0" smtClean="0">
                <a:solidFill>
                  <a:srgbClr val="76923C"/>
                </a:solidFill>
                <a:latin typeface="Times New Roman" pitchFamily="18" charset="0"/>
                <a:ea typeface="Times New Roman"/>
                <a:cs typeface="Times New Roman" pitchFamily="18" charset="0"/>
                <a:hlinkClick r:id="rId8" tooltip="Алгоритм поиска"/>
              </a:rPr>
              <a:t>алгоритмы поиска</a:t>
            </a:r>
            <a:endParaRPr lang="ru-RU" sz="2400" b="1" i="1" u="none" strike="noStrike" dirty="0" smtClean="0">
              <a:solidFill>
                <a:srgbClr val="76923C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algn="ctr"/>
            <a:r>
              <a:rPr lang="ru-RU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Информированный </a:t>
            </a:r>
            <a:r>
              <a:rPr lang="ru-RU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поиск</a:t>
            </a:r>
            <a:endParaRPr lang="ru-RU" sz="2400" dirty="0">
              <a:solidFill>
                <a:srgbClr val="7030A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357157" y="857232"/>
          <a:ext cx="8643998" cy="5849104"/>
        </p:xfrm>
        <a:graphic>
          <a:graphicData uri="http://schemas.openxmlformats.org/drawingml/2006/table">
            <a:tbl>
              <a:tblPr/>
              <a:tblGrid>
                <a:gridCol w="1866816"/>
                <a:gridCol w="2848093"/>
                <a:gridCol w="3929089"/>
              </a:tblGrid>
              <a:tr h="1094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Состязательный поиск</a:t>
                      </a:r>
                      <a:endParaRPr lang="ru-RU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Алгоритм Minmax"/>
                        </a:rPr>
                        <a:t>Алгоритм </a:t>
                      </a:r>
                      <a:r>
                        <a:rPr lang="ru-RU" sz="1600" b="1" i="1" u="none" strike="noStrike" dirty="0" err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Алгоритм Minmax"/>
                        </a:rPr>
                        <a:t>Minmax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Основная цель - минимизировать возможные потери при наихудшем сценарии.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2801" marR="428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6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Логика как поиск</a:t>
                      </a:r>
                      <a:endParaRPr lang="ru-RU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3" tooltip="Система, основанная на правилах"/>
                        </a:rPr>
                        <a:t>Система, основанная на правилах</a:t>
                      </a:r>
                      <a:r>
                        <a:rPr lang="ru-RU" sz="1600" b="1" i="1" dirty="0">
                          <a:solidFill>
                            <a:srgbClr val="C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, </a:t>
                      </a: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4" tooltip="Предложение Хорна"/>
                        </a:rPr>
                        <a:t>предложение Хорна</a:t>
                      </a:r>
                      <a:r>
                        <a:rPr lang="ru-RU" sz="1600" b="1" i="1" dirty="0">
                          <a:solidFill>
                            <a:srgbClr val="C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, </a:t>
                      </a: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5" tooltip="Прямая цепочка"/>
                        </a:rPr>
                        <a:t>прямая </a:t>
                      </a:r>
                      <a:r>
                        <a:rPr lang="ru-RU" sz="1600" b="1" i="1" dirty="0">
                          <a:solidFill>
                            <a:srgbClr val="0070C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и</a:t>
                      </a:r>
                      <a:r>
                        <a:rPr lang="ru-RU" sz="1600" b="1" i="1" dirty="0">
                          <a:solidFill>
                            <a:srgbClr val="C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6" tooltip="Обратная цепочка"/>
                        </a:rPr>
                        <a:t>обратная цепочка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См. Пролог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2801" marR="428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8222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Планирование как поиск</a:t>
                      </a:r>
                      <a:endParaRPr lang="ru-RU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7" tooltip="Поиск в пространстве состояний"/>
                        </a:rPr>
                        <a:t>Поиск в пространстве состояний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i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Предполагает нахождение пути из начального состояния в одно из конечных (целевых) состояний.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Граф, вершины которого  это состояния, а дуги — операторы.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Описания состояний могут представлять собой строки символов, векторы, двухмерные массивы, деревья, списки и т. п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..</a:t>
                      </a:r>
                      <a:endParaRPr lang="ru-RU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801" marR="428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46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8" tooltip="Анализ средств и целей"/>
                        </a:rPr>
                        <a:t>Анализ средств и целей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2801" marR="428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Решатель выбирает действия, которые сокращают разницу между её текущим и целевым состояниями.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2801" marR="428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000100" y="214291"/>
            <a:ext cx="70723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i="1" dirty="0" smtClean="0">
                <a:solidFill>
                  <a:srgbClr val="76923C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Дискретные </a:t>
            </a:r>
            <a:r>
              <a:rPr lang="ru-RU" sz="2800" b="1" i="1" u="none" strike="noStrike" dirty="0" smtClean="0">
                <a:solidFill>
                  <a:srgbClr val="76923C"/>
                </a:solidFill>
                <a:latin typeface="Times New Roman" pitchFamily="18" charset="0"/>
                <a:ea typeface="Times New Roman"/>
                <a:cs typeface="Times New Roman" pitchFamily="18" charset="0"/>
                <a:hlinkClick r:id="rId9" tooltip="Алгоритм поиска"/>
              </a:rPr>
              <a:t>алгоритмы поиска</a:t>
            </a:r>
            <a:endParaRPr lang="ru-RU" sz="2800" b="1" i="1" u="none" strike="noStrike" dirty="0" smtClean="0">
              <a:solidFill>
                <a:srgbClr val="76923C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28596" y="214290"/>
          <a:ext cx="8572560" cy="6215107"/>
        </p:xfrm>
        <a:graphic>
          <a:graphicData uri="http://schemas.openxmlformats.org/drawingml/2006/table">
            <a:tbl>
              <a:tblPr/>
              <a:tblGrid>
                <a:gridCol w="1933818"/>
                <a:gridCol w="2423900"/>
                <a:gridCol w="4214842"/>
              </a:tblGrid>
              <a:tr h="536329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76923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Поиск по оптимизации</a:t>
                      </a:r>
                      <a:endParaRPr lang="ru-RU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32" marR="476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577438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Оптимизация (математика)"/>
                        </a:rPr>
                        <a:t>Оптимизация (математика)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32" marR="476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3" tooltip="Восхождение на холм"/>
                        </a:rPr>
                        <a:t>Восхождение на холм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32" marR="476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Это эвристический метод поиска, который адаптируется к задачам оптимизации и использует локальный поиск для определения оптимального варианта.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32" marR="476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19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4" tooltip="Имитированный отжиг"/>
                        </a:rPr>
                        <a:t>Имитированный отжиг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32" marR="476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Общий алгоритмический метод решения задачи глобальной оптимизации </a:t>
                      </a:r>
                      <a:r>
                        <a:rPr lang="ru-RU" sz="1600" b="1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( особенно дискретной и комбинаторной оптимизации)</a:t>
                      </a:r>
                      <a:r>
                        <a:rPr lang="ru-RU" sz="1600" b="1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.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32" marR="476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19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5" tooltip="Поиск по лучу"/>
                        </a:rPr>
                        <a:t>Поиск по лучу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32" marR="476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Это </a:t>
                      </a:r>
                      <a:r>
                        <a:rPr lang="ru-RU" sz="1600" b="1" i="1" u="none" strike="noStrike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  <a:hlinkClick r:id="rId6" tooltip="Эвристический алгоритм"/>
                        </a:rPr>
                        <a:t>эвристический</a:t>
                      </a:r>
                      <a:r>
                        <a:rPr lang="ru-RU" sz="1600" b="1" i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1600" b="1" i="1" u="none" strike="noStrike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  <a:hlinkClick r:id="rId7" tooltip="Алгоритм поиска (страница отсутствует)"/>
                        </a:rPr>
                        <a:t>алгоритм поиска</a:t>
                      </a:r>
                      <a:r>
                        <a:rPr lang="ru-RU" sz="1600" b="1" i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в графе, который определяет перспективные узлы в ограниченном наборе. 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32" marR="476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74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8" tooltip="Случайная оптимизация"/>
                        </a:rPr>
                        <a:t>Случайная оптимизация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32" marR="476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  <a:hlinkClick r:id="rId9" tooltip="Derivative-free optimization"/>
                        </a:rPr>
                        <a:t>Не требуют вычисления градиента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оптимизируемой функции.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Можно применять к функциям, которые не являются </a:t>
                      </a:r>
                      <a:r>
                        <a:rPr lang="ru-RU" sz="1600" b="1" u="none" strike="noStrike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  <a:hlinkClick r:id="rId10" tooltip="Continuous function"/>
                        </a:rPr>
                        <a:t>непрерывными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или </a:t>
                      </a:r>
                      <a:r>
                        <a:rPr lang="ru-RU" sz="1600" b="1" u="none" strike="noStrike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  <a:hlinkClick r:id="rId11" tooltip="Differentiable function"/>
                        </a:rPr>
                        <a:t>дифференцируемыми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.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32" marR="476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357160" y="785795"/>
          <a:ext cx="8429683" cy="5786476"/>
        </p:xfrm>
        <a:graphic>
          <a:graphicData uri="http://schemas.openxmlformats.org/drawingml/2006/table">
            <a:tbl>
              <a:tblPr/>
              <a:tblGrid>
                <a:gridCol w="1714510"/>
                <a:gridCol w="2000264"/>
                <a:gridCol w="4714909"/>
              </a:tblGrid>
              <a:tr h="1687722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0000FF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2" tooltip="Эволюционные вычисления"/>
                        </a:rPr>
                        <a:t>Эволюционные вычисления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329" marR="473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3" tooltip="Генетические алгоритмы"/>
                        </a:rPr>
                        <a:t>Генетические алгоритмы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329" marR="473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Этот алгоритм симулирует процесс естественного отбора, когда более сильные особи из популяции переживают более слабых и производят следующее поколение особей. </a:t>
                      </a:r>
                      <a:r>
                        <a:rPr lang="ru-RU" sz="16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Каждая особь — это решение поставленной проблемы.</a:t>
                      </a:r>
                      <a:endParaRPr lang="ru-RU" sz="16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329" marR="47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551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4" tooltip="Программирование экспрессии генов"/>
                        </a:rPr>
                        <a:t>Программирование экспрессии генов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329" marR="473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Особи кодируются в виде строк фиксированной длины</a:t>
                      </a:r>
                      <a:r>
                        <a:rPr lang="ru-RU" sz="16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ru-RU" sz="1600" b="1" dirty="0">
                          <a:solidFill>
                            <a:srgbClr val="943634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(называемых геномом, либо хромосомами)</a:t>
                      </a:r>
                      <a:r>
                        <a:rPr lang="ru-RU" sz="16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 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Они затем декодируются для получения синтаксических деревьев.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329" marR="47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551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5" tooltip="Генетическое программирование"/>
                        </a:rPr>
                        <a:t>Генетическое программирование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329" marR="473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Идея – представить программы на достаточно высоком уровне абстракции, позволяющем учитывать специфику и структуру компьютерных программ.</a:t>
                      </a:r>
                      <a:endParaRPr lang="ru-RU" sz="16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329" marR="47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72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6" tooltip="Дифференциальная эволюция"/>
                        </a:rPr>
                        <a:t>Дифференциальная эволюция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329" marR="473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Метод многомерной </a:t>
                      </a:r>
                      <a:r>
                        <a:rPr lang="ru-RU" sz="1600" b="1" u="none" strike="noStrike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7" tooltip="Оптимизация (математика)"/>
                        </a:rPr>
                        <a:t>математической оптимизации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, относящийся к классу </a:t>
                      </a:r>
                      <a:r>
                        <a:rPr lang="ru-RU" sz="1600" b="1" u="none" strike="noStrike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8" tooltip="Метод Монте-Карло"/>
                        </a:rPr>
                        <a:t>стохастических алгоритмов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оптимизации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(работает с использованием случайных чисел 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и использующий некоторые идеи </a:t>
                      </a:r>
                      <a:r>
                        <a:rPr lang="ru-RU" sz="1600" b="1" u="none" strike="noStrike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9" tooltip="Генетический алгоритм"/>
                        </a:rPr>
                        <a:t>генетических алгоритмов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)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329" marR="47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714348" y="142852"/>
            <a:ext cx="7429552" cy="556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800" b="1" dirty="0" smtClean="0">
                <a:solidFill>
                  <a:srgbClr val="76923C"/>
                </a:solidFill>
                <a:latin typeface="Times New Roman"/>
                <a:ea typeface="Times New Roman"/>
                <a:cs typeface="Times New Roman"/>
              </a:rPr>
              <a:t>Поиск по оптимизации</a:t>
            </a:r>
            <a:endParaRPr lang="ru-RU" sz="2800" dirty="0"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428596" y="1000109"/>
          <a:ext cx="8501121" cy="5657634"/>
        </p:xfrm>
        <a:graphic>
          <a:graphicData uri="http://schemas.openxmlformats.org/drawingml/2006/table">
            <a:tbl>
              <a:tblPr/>
              <a:tblGrid>
                <a:gridCol w="91216"/>
                <a:gridCol w="1551858"/>
                <a:gridCol w="6858047"/>
              </a:tblGrid>
              <a:tr h="1951914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2908" marR="329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2" tooltip="Роевой интеллект"/>
                        </a:rPr>
                        <a:t>Роевой интеллект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2908" marR="329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Описывает </a:t>
                      </a:r>
                      <a:r>
                        <a:rPr lang="ru-RU" sz="1600" b="1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3" tooltip="Коллективное поведение"/>
                        </a:rPr>
                        <a:t>коллективное поведение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ru-RU" sz="1600" b="1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4" tooltip="Децентрализация"/>
                        </a:rPr>
                        <a:t>децентрализованной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ru-RU" sz="1600" b="1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5" tooltip="Самоорганизация"/>
                        </a:rPr>
                        <a:t>самоорганизующейся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системы. Метод  </a:t>
                      </a:r>
                      <a:r>
                        <a:rPr lang="ru-RU" sz="1600" b="1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6" tooltip="Оптимизация"/>
                        </a:rPr>
                        <a:t>оптимизации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</a:t>
                      </a:r>
                      <a:r>
                        <a:rPr lang="ru-RU" sz="16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В Америке в 2016 г. успешно испытали рой из 103 беспилотных аппарата  с </a:t>
                      </a:r>
                      <a:r>
                        <a:rPr lang="ru-RU" sz="1600" b="1" u="sng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7"/>
                        </a:rPr>
                        <a:t>роевым интеллектом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 Каждый агент роя (</a:t>
                      </a:r>
                      <a:r>
                        <a:rPr lang="ru-RU" sz="1600" b="1" dirty="0" err="1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боид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) локально взаимодействует с другими  и окружающей средой. Командира нет, что позволяет рою успешно пережить потерю отдельных </a:t>
                      </a:r>
                      <a:r>
                        <a:rPr lang="ru-RU" sz="1600" b="1" dirty="0" err="1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боидов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2908" marR="329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436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8" tooltip="Оптимизация роя частиц"/>
                        </a:rPr>
                        <a:t>Оптимизация роя частиц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2908" marR="329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Оптимизирует задачу путем итеративных попыток улучшить возможное решение (численный метод). Рой частиц это совокупность возможных решений. </a:t>
                      </a:r>
                      <a:r>
                        <a:rPr lang="ru-RU" sz="1600" b="1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Не обязательно иметь дифференцируемую и гладкую целевую функцию.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Эти алгоритмы могут решать реальные задачи оптимизации, например в компьютерных науках.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2908" marR="329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010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9" tooltip="Оптимизация муравьиной колонии"/>
                        </a:rPr>
                        <a:t>Оптимизация муравьиной колонии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2908" marR="329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Муравьи могут выбирать путь по </a:t>
                      </a:r>
                      <a:r>
                        <a:rPr lang="ru-RU" sz="1600" b="1" dirty="0" err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феромону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, оставленному предыдущими муравьями. Чем выше концентрация оставшегося на пути </a:t>
                      </a:r>
                      <a:r>
                        <a:rPr lang="ru-RU" sz="1600" b="1" dirty="0" err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феромона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, тем выше вероятность того, что муравей выберет этот путь. Концентрация </a:t>
                      </a:r>
                      <a:r>
                        <a:rPr lang="ru-RU" sz="1600" b="1" dirty="0" err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феромона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со временем улетучивается.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2908" marR="329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595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10" tooltip="Метаэвристика"/>
                        </a:rPr>
                        <a:t>Метаэвристика</a:t>
                      </a:r>
                      <a:endParaRPr lang="ru-RU" sz="16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2908" marR="329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 err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Метаэвристики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пытаются объединить основные эвристические методы. </a:t>
                      </a:r>
                      <a:r>
                        <a:rPr lang="ru-RU" sz="1600" b="1" dirty="0" err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Метаэвристики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включают две категории: </a:t>
                      </a:r>
                      <a:r>
                        <a:rPr lang="ru-RU" sz="1600" b="1" dirty="0" err="1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метаэвристики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локального поиска и эволюционные алгоритмы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2908" marR="329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428728" y="142852"/>
            <a:ext cx="6858048" cy="556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800" b="1" dirty="0" smtClean="0">
                <a:solidFill>
                  <a:srgbClr val="76923C"/>
                </a:solidFill>
                <a:latin typeface="Times New Roman"/>
                <a:ea typeface="Times New Roman"/>
                <a:cs typeface="Times New Roman"/>
              </a:rPr>
              <a:t>Поиск по оптимизации</a:t>
            </a:r>
            <a:endParaRPr lang="ru-RU" sz="2800" dirty="0">
              <a:ea typeface="Calibri"/>
              <a:cs typeface="Times New Roman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643042" y="500042"/>
            <a:ext cx="6715172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Алгоритмы обучения, основанные на обществе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00097" y="642918"/>
          <a:ext cx="7500992" cy="5286412"/>
        </p:xfrm>
        <a:graphic>
          <a:graphicData uri="http://schemas.openxmlformats.org/drawingml/2006/table">
            <a:tbl>
              <a:tblPr/>
              <a:tblGrid>
                <a:gridCol w="2428895"/>
                <a:gridCol w="2357428"/>
                <a:gridCol w="2714669"/>
              </a:tblGrid>
              <a:tr h="839060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 u="none" strike="noStrike" dirty="0">
                          <a:solidFill>
                            <a:srgbClr val="76923C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Логические"/>
                        </a:rPr>
                        <a:t>Логика</a:t>
                      </a:r>
                      <a:r>
                        <a:rPr lang="ru-RU" sz="2800" b="1" dirty="0">
                          <a:solidFill>
                            <a:srgbClr val="76923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и </a:t>
                      </a:r>
                      <a:r>
                        <a:rPr lang="ru-RU" sz="2800" b="1" u="none" strike="noStrike" dirty="0">
                          <a:solidFill>
                            <a:srgbClr val="76923C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3" tooltip="Автоматизированное рассуждение"/>
                        </a:rPr>
                        <a:t>автоматическое рассуждение</a:t>
                      </a:r>
                      <a:endParaRPr lang="ru-RU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557881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  <a:cs typeface="Times New Roman"/>
                        </a:rPr>
                        <a:t>Программирование с использованием логики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4" tooltip="Логическое программирование"/>
                        </a:rPr>
                        <a:t>Логическое программирование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Программы задаются в форме логических утверждений и правил вывода.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47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i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См. "Логика как поиск" 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9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285721" y="1071546"/>
          <a:ext cx="8572558" cy="5357850"/>
        </p:xfrm>
        <a:graphic>
          <a:graphicData uri="http://schemas.openxmlformats.org/drawingml/2006/table">
            <a:tbl>
              <a:tblPr/>
              <a:tblGrid>
                <a:gridCol w="1928825"/>
                <a:gridCol w="2357454"/>
                <a:gridCol w="4286279"/>
              </a:tblGrid>
              <a:tr h="2836509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latin typeface="Times New Roman"/>
                          <a:ea typeface="Times New Roman"/>
                          <a:cs typeface="Times New Roman"/>
                        </a:rPr>
                        <a:t>Формы логики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Логика высказываний"/>
                        </a:rPr>
                        <a:t>Логика высказываний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1600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Или пропозициональная логика</a:t>
                      </a:r>
                      <a:r>
                        <a:rPr lang="ru-RU" sz="16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— 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раздел математики и логики, изучающий логические формы сложных высказываний, построенных из простых или элементарных высказываний с помощью логических операций</a:t>
                      </a:r>
                      <a:r>
                        <a:rPr lang="ru-RU" sz="16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. 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3" tooltip="Логика первого порядка"/>
                        </a:rPr>
                        <a:t>Логика первого порядка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Строгие рассуждения об истинности и ложности утверждений и об их взаимосвязи.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В частности, о логическом следовании одного утверждения из другого или их эквивалентности.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428728" y="357166"/>
            <a:ext cx="6500857" cy="556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sz="2800" b="1" u="none" strike="noStrike" dirty="0" smtClean="0">
                <a:solidFill>
                  <a:srgbClr val="76923C"/>
                </a:solidFill>
                <a:latin typeface="Times New Roman"/>
                <a:ea typeface="Times New Roman"/>
                <a:cs typeface="Times New Roman"/>
                <a:hlinkClick r:id="rId4" tooltip="Логические"/>
              </a:rPr>
              <a:t>Логика</a:t>
            </a:r>
            <a:r>
              <a:rPr lang="ru-RU" sz="2800" b="1" dirty="0" smtClean="0">
                <a:solidFill>
                  <a:srgbClr val="76923C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lang="ru-RU" sz="2800" b="1" u="none" strike="noStrike" dirty="0" smtClean="0">
                <a:solidFill>
                  <a:srgbClr val="76923C"/>
                </a:solidFill>
                <a:latin typeface="Times New Roman"/>
                <a:ea typeface="Times New Roman"/>
                <a:cs typeface="Times New Roman"/>
                <a:hlinkClick r:id="rId5" tooltip="Автоматизированное рассуждение"/>
              </a:rPr>
              <a:t>автоматическое рассуждение</a:t>
            </a:r>
            <a:endParaRPr lang="ru-RU" sz="2800" dirty="0"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357159" y="857232"/>
          <a:ext cx="8572559" cy="5786478"/>
        </p:xfrm>
        <a:graphic>
          <a:graphicData uri="http://schemas.openxmlformats.org/drawingml/2006/table">
            <a:tbl>
              <a:tblPr/>
              <a:tblGrid>
                <a:gridCol w="1428760"/>
                <a:gridCol w="2857519"/>
                <a:gridCol w="4286280"/>
              </a:tblGrid>
              <a:tr h="847700">
                <a:tc rowSpan="5">
                  <a:txBody>
                    <a:bodyPr/>
                    <a:lstStyle/>
                    <a:p>
                      <a:pPr marL="342900" lvl="0" indent="-34290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Symbol"/>
                        <a:buChar char=""/>
                      </a:pPr>
                      <a:r>
                        <a:rPr lang="ru-RU" sz="1800" b="1" i="0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Нечеткая логика"/>
                        </a:rPr>
                        <a:t>Нечеткая логика</a:t>
                      </a:r>
                      <a:endParaRPr lang="ru-RU" sz="1800" i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813" marR="448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 smtClean="0">
                          <a:solidFill>
                            <a:srgbClr val="31849B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3" tooltip="Теория нечетких множеств"/>
                        </a:rPr>
                        <a:t>Теория нечетких множеств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4813" marR="448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Цель теории</a:t>
                      </a:r>
                      <a:r>
                        <a:rPr lang="ru-RU" sz="160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ru-RU" sz="1600" b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— описать нечёткие понятия и знания, оперирование этими знаниями и получение нечётких выводов.</a:t>
                      </a:r>
                      <a:endParaRPr lang="ru-RU" sz="16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4813" marR="4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26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4" tooltip="Нечеткие системы"/>
                        </a:rPr>
                        <a:t>Нечеткие системы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4813" marR="448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Это математические модели, в основе вычисления которых лежит нечеткая логика.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Используют в трудно формализуемых задачах.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4813" marR="4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796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5" tooltip="Метод расчесывания"/>
                        </a:rPr>
                        <a:t>Метод расчесывания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4813" marR="448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Это метод сокращения базы правил написания правил </a:t>
                      </a:r>
                      <a:r>
                        <a:rPr lang="ru-RU" sz="1600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6" tooltip="Нечеткая логика"/>
                        </a:rPr>
                        <a:t>нечеткой логики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 Предназначен для предотвращения </a:t>
                      </a:r>
                      <a:r>
                        <a:rPr lang="ru-RU" sz="1600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7" tooltip="Комбинаторный взрыв"/>
                        </a:rPr>
                        <a:t>комбинаторного взрыва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в правилах нечеткой логики.</a:t>
                      </a:r>
                      <a:r>
                        <a:rPr lang="ru-RU" sz="16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Цель избавиться от резкого («взрывного») роста временной сложности алгоритма.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4813" marR="4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7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8" tooltip="Оператор агрегирования упорядоченного взвешенного усреднения"/>
                        </a:rPr>
                        <a:t>Оператор агрегирования упорядоченного взвешенного усреднения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4813" marR="448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Это параметризованный класс операторов агрегирования среднего типа, который используется в нечёткой логике.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4813" marR="4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84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 err="1">
                          <a:solidFill>
                            <a:srgbClr val="31849B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9" tooltip="Перцептивные вычисления"/>
                        </a:rPr>
                        <a:t>Перцептивные</a:t>
                      </a: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9" tooltip="Перцептивные вычисления"/>
                        </a:rPr>
                        <a:t> вычисления</a:t>
                      </a:r>
                      <a:endParaRPr lang="ru-RU" sz="16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4813" marR="448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Применяется теория </a:t>
                      </a:r>
                      <a:r>
                        <a:rPr lang="ru-RU" sz="1600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10" tooltip="Лотфи А. Заде"/>
                        </a:rPr>
                        <a:t>Заде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 </a:t>
                      </a:r>
                      <a:r>
                        <a:rPr lang="ru-RU" sz="1600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11" tooltip="Вычисления со словами и восприятием"/>
                        </a:rPr>
                        <a:t>вычислениях с помощью слов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.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Позволяет математически извлекать из фраз их смысл и оперировать ими.</a:t>
                      </a:r>
                      <a:endParaRPr lang="ru-RU" sz="16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813" marR="4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928662" y="214290"/>
            <a:ext cx="7572427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b="1" u="none" strike="noStrike" dirty="0" smtClean="0">
                <a:solidFill>
                  <a:srgbClr val="76923C"/>
                </a:solidFill>
                <a:latin typeface="Times New Roman"/>
                <a:ea typeface="Times New Roman"/>
                <a:cs typeface="Times New Roman"/>
                <a:hlinkClick r:id="rId12" tooltip="Логические"/>
              </a:rPr>
              <a:t>Логика</a:t>
            </a:r>
            <a:r>
              <a:rPr lang="ru-RU" b="1" dirty="0" smtClean="0">
                <a:solidFill>
                  <a:srgbClr val="76923C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lang="ru-RU" b="1" u="none" strike="noStrike" dirty="0" smtClean="0">
                <a:solidFill>
                  <a:srgbClr val="76923C"/>
                </a:solidFill>
                <a:latin typeface="Times New Roman"/>
                <a:ea typeface="Times New Roman"/>
                <a:cs typeface="Times New Roman"/>
                <a:hlinkClick r:id="rId13" tooltip="Автоматизированное рассуждение"/>
              </a:rPr>
              <a:t>автоматическое рассуждение</a:t>
            </a:r>
            <a:endParaRPr lang="ru-RU" dirty="0">
              <a:ea typeface="Calibri"/>
              <a:cs typeface="Times New Roman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688713" y="500042"/>
            <a:ext cx="1766574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b="1" dirty="0">
                <a:latin typeface="Times New Roman"/>
                <a:ea typeface="Times New Roman"/>
                <a:cs typeface="Times New Roman"/>
              </a:rPr>
              <a:t>Формы логики</a:t>
            </a:r>
            <a:endParaRPr lang="ru-RU" dirty="0"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142853"/>
            <a:ext cx="84296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Формы логики  </a:t>
            </a:r>
            <a:r>
              <a:rPr lang="ru-RU" b="1" i="1" u="none" strike="noStrik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hlinkClick r:id="rId2" tooltip="Рассуждения по умолчанию"/>
              </a:rPr>
              <a:t>Рассуждения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357158" y="714356"/>
          <a:ext cx="8501122" cy="5286412"/>
        </p:xfrm>
        <a:graphic>
          <a:graphicData uri="http://schemas.openxmlformats.org/drawingml/2006/table">
            <a:tbl>
              <a:tblPr/>
              <a:tblGrid>
                <a:gridCol w="2500330"/>
                <a:gridCol w="6000792"/>
              </a:tblGrid>
              <a:tr h="26432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3" tooltip="Немонотонная логика"/>
                        </a:rPr>
                        <a:t>Немонотонная логика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4101" marR="241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Например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,  </a:t>
                      </a:r>
                      <a:r>
                        <a:rPr lang="ru-RU" sz="1800" b="1" u="sng" dirty="0" err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4" tooltip="Дефолтная логика (страница отсутствует)"/>
                        </a:rPr>
                        <a:t>дефолтная</a:t>
                      </a:r>
                      <a:r>
                        <a:rPr lang="ru-RU" sz="1800" b="1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4" tooltip="Дефолтная логика (страница отсутствует)"/>
                        </a:rPr>
                        <a:t> логика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, где выводы могут быть получены только из-за отсутствия доказательств обратного (</a:t>
                      </a:r>
                      <a:r>
                        <a:rPr lang="ru-RU" sz="1800" b="1" u="sng" dirty="0" err="1">
                          <a:solidFill>
                            <a:srgbClr val="C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5" tooltip="Абдукция (логика)"/>
                        </a:rPr>
                        <a:t>абдуктивное</a:t>
                      </a:r>
                      <a:r>
                        <a:rPr lang="ru-RU" sz="1800" b="1" u="sng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5" tooltip="Абдукция (логика)"/>
                        </a:rPr>
                        <a:t> рассуждение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). </a:t>
                      </a:r>
                      <a:r>
                        <a:rPr lang="ru-RU" sz="1800" b="1" u="sng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rId6" tooltip="Пересмотр убеждений (страница отсутствует)"/>
                        </a:rPr>
                        <a:t>Пересмотр убеждений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, когда новое знание может противоречить старым убеждениям.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101" marR="241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32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7" tooltip="Логика по умолчанию"/>
                        </a:rPr>
                        <a:t>Логика по умолчанию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4101" marR="241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Логика по умолчанию – это немонотонная логика, предложенная </a:t>
                      </a:r>
                      <a:r>
                        <a:rPr lang="ru-RU" sz="1800" b="1" dirty="0" err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Раймондом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Рейтером для формализации рассуждений с предположениями по умолчанию.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Логика по умолчанию может выражать такие факты, как «по умолчанию, что-то истинно».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101" marR="241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85786" y="214290"/>
            <a:ext cx="7715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Формы логики  </a:t>
            </a:r>
            <a:r>
              <a:rPr lang="ru-RU" sz="2800" b="1" i="1" u="none" strike="noStrik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hlinkClick r:id="rId2" tooltip="Рассуждения по умолчанию"/>
              </a:rPr>
              <a:t>Рассуждения</a:t>
            </a:r>
            <a:endParaRPr lang="ru-RU" sz="2800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500034" y="928670"/>
          <a:ext cx="8358246" cy="5429288"/>
        </p:xfrm>
        <a:graphic>
          <a:graphicData uri="http://schemas.openxmlformats.org/drawingml/2006/table">
            <a:tbl>
              <a:tblPr/>
              <a:tblGrid>
                <a:gridCol w="2130601"/>
                <a:gridCol w="6227645"/>
              </a:tblGrid>
              <a:tr h="8732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3" tooltip="Описание (логика)"/>
                        </a:rPr>
                        <a:t>Описание (логика)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Это процесс преобразования прямого содержания в оформленное содержание с помощью логических форм.</a:t>
                      </a:r>
                      <a:endParaRPr lang="ru-RU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60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4" tooltip="Предположение о замкнутом мире"/>
                        </a:rPr>
                        <a:t>Предположение о замкнутом мире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Стратегия, при которой положительный литерал, который не является следствием формул в некоторой базе знаний, считается ложным</a:t>
                      </a:r>
                      <a:r>
                        <a:rPr lang="ru-RU" sz="1800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Это предположение позволяет упростить систему замещением неоднозначности (есть — нет — неизвестно) дуализмом (есть — нет).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1" i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Пример: в базе знаний, состоящей из литералов </a:t>
                      </a:r>
                      <a:r>
                        <a:rPr lang="ru-RU" sz="1800" b="1" i="1" dirty="0">
                          <a:solidFill>
                            <a:srgbClr val="98480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«Вася любит собак»</a:t>
                      </a:r>
                      <a:r>
                        <a:rPr lang="ru-RU" sz="1800" b="1" i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800" b="1" i="1" dirty="0">
                          <a:solidFill>
                            <a:srgbClr val="98480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«Женя любит кошек»</a:t>
                      </a:r>
                      <a:r>
                        <a:rPr lang="ru-RU" sz="1800" b="1" i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и </a:t>
                      </a:r>
                      <a:r>
                        <a:rPr lang="ru-RU" sz="1800" b="1" i="1" dirty="0">
                          <a:solidFill>
                            <a:srgbClr val="98480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«Женя не любит собак»</a:t>
                      </a:r>
                      <a:r>
                        <a:rPr lang="ru-RU" sz="1800" b="1" i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800" b="1" i="1" dirty="0">
                          <a:solidFill>
                            <a:srgbClr val="1F497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 логике первого порядка невозможно дать определённый ответ на вопрос: </a:t>
                      </a:r>
                      <a:r>
                        <a:rPr lang="ru-RU" sz="1800" b="1" i="1" dirty="0">
                          <a:solidFill>
                            <a:srgbClr val="98480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«Любит ли Вася кошек?». </a:t>
                      </a:r>
                      <a:r>
                        <a:rPr lang="ru-RU" sz="1800" b="1" i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 при предположении о замкнутости мира, положительный литерал </a:t>
                      </a:r>
                      <a:r>
                        <a:rPr lang="ru-RU" sz="1800" b="1" i="1" dirty="0">
                          <a:solidFill>
                            <a:srgbClr val="98480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«Вася любит кошек» считается ложным</a:t>
                      </a:r>
                      <a:r>
                        <a:rPr lang="ru-RU" sz="1800" b="1" i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что позволяет заключить, что Вася кошек не любит.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7158" y="142852"/>
            <a:ext cx="85011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7030A0"/>
                </a:solidFill>
              </a:rPr>
              <a:t>Логика, зависящая от предметной области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500033" y="857231"/>
          <a:ext cx="8501123" cy="5805747"/>
        </p:xfrm>
        <a:graphic>
          <a:graphicData uri="http://schemas.openxmlformats.org/drawingml/2006/table">
            <a:tbl>
              <a:tblPr/>
              <a:tblGrid>
                <a:gridCol w="1785951"/>
                <a:gridCol w="1857388"/>
                <a:gridCol w="4857784"/>
              </a:tblGrid>
              <a:tr h="1218589">
                <a:tc rowSpan="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i="0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Представление категорий и отношений</a:t>
                      </a:r>
                      <a:endParaRPr lang="ru-RU" sz="1800" i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592" marR="305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Логика описания"/>
                        </a:rPr>
                        <a:t>Логика описания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592" marR="305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Или </a:t>
                      </a:r>
                      <a:r>
                        <a:rPr lang="ru-RU" sz="1400" dirty="0" err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дескрипционная</a:t>
                      </a:r>
                      <a:r>
                        <a:rPr lang="ru-RU" sz="14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логика — </a:t>
                      </a: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язык представления знаний, позволяющий описывать понятия предметной области в недвусмысленном, формализованном виде</a:t>
                      </a:r>
                      <a:r>
                        <a:rPr lang="ru-RU" sz="14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 </a:t>
                      </a: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Организован по типу языков математической логики</a:t>
                      </a:r>
                      <a:r>
                        <a:rPr lang="ru-RU" sz="6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.</a:t>
                      </a:r>
                      <a:endParaRPr lang="ru-RU" sz="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592" marR="30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1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3" tooltip="Семантическая сеть"/>
                        </a:rPr>
                        <a:t>Семантические сети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592" marR="305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Это информационная модель предметной области, имеющая вид ориентированного графа</a:t>
                      </a:r>
                      <a:r>
                        <a:rPr lang="ru-RU" sz="14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 </a:t>
                      </a:r>
                      <a:endParaRPr lang="ru-RU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0592" marR="30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26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4" tooltip="Наследование (объектно-ориентированное программирование)"/>
                        </a:rPr>
                        <a:t>Наследование (ООП)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592" marR="305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Это</a:t>
                      </a:r>
                      <a:r>
                        <a:rPr lang="ru-RU" sz="14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механизм, который позволяет описать новый класс на основе существующего (родительского)</a:t>
                      </a:r>
                      <a:r>
                        <a:rPr lang="ru-RU" sz="14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 </a:t>
                      </a: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При этом свойства и функциональность родительского класса заимствуются новым классом.</a:t>
                      </a:r>
                      <a:endParaRPr lang="ru-RU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30592" marR="30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417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5" tooltip="Фрейм (искусственный интеллект)"/>
                        </a:rPr>
                        <a:t>Фрейм (ИИ)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592" marR="305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 общем случае  обозначает структуру, содержащую некоторую </a:t>
                      </a:r>
                      <a:r>
                        <a:rPr lang="ru-RU" sz="1400" u="sng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6" tooltip="Информация"/>
                        </a:rPr>
                        <a:t>информацию</a:t>
                      </a: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. </a:t>
                      </a: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 </a:t>
                      </a:r>
                      <a:r>
                        <a:rPr lang="ru-RU" sz="1400" u="sng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7" tooltip="Фрейм (инженерия знаний)"/>
                        </a:rPr>
                        <a:t>инженерия знаний</a:t>
                      </a: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: структура, содержащая описание объекта в виде атрибутов и их значений.</a:t>
                      </a:r>
                      <a:endParaRPr lang="ru-RU" sz="1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0592" marR="30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9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 err="1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8" tooltip="Скрипты (искусственный интеллект)"/>
                        </a:rPr>
                        <a:t>Скрипты</a:t>
                      </a: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8" tooltip="Скрипты (искусственный интеллект)"/>
                        </a:rPr>
                        <a:t> (ИИ)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592" marR="305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Это</a:t>
                      </a:r>
                      <a:r>
                        <a:rPr lang="ru-RU" sz="14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400" b="1" dirty="0">
                          <a:solidFill>
                            <a:srgbClr val="0070C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предопределённые сценарии</a:t>
                      </a: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, которые </a:t>
                      </a:r>
                      <a:r>
                        <a:rPr lang="ru-RU" sz="1400" b="1" dirty="0">
                          <a:solidFill>
                            <a:srgbClr val="0070C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помогают машинам понимать и предсказывать поведение человека</a:t>
                      </a: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путём моделирования последовательностей событий. </a:t>
                      </a:r>
                      <a:endParaRPr lang="ru-RU" sz="1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b="1" dirty="0" err="1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Скрипты</a:t>
                      </a: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помогают генерировать релевантный текст</a:t>
                      </a: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, </a:t>
                      </a:r>
                      <a:r>
                        <a:rPr lang="ru-RU" sz="1400" b="1" dirty="0">
                          <a:solidFill>
                            <a:srgbClr val="0070C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 в игре персонажи используют сценарии, чтобы вести себя реалистично и следовать предсказуемым шаблонам. </a:t>
                      </a:r>
                      <a:endParaRPr lang="ru-RU" sz="1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b="1" dirty="0" err="1">
                          <a:solidFill>
                            <a:srgbClr val="0070C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Нейросети</a:t>
                      </a:r>
                      <a:r>
                        <a:rPr lang="ru-RU" sz="1400" b="1" dirty="0">
                          <a:solidFill>
                            <a:srgbClr val="0070C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способны анализировать запросы и генерировать соответствующий код, то есть создавать </a:t>
                      </a:r>
                      <a:r>
                        <a:rPr lang="ru-RU" sz="1400" b="1" dirty="0" err="1">
                          <a:solidFill>
                            <a:srgbClr val="0070C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скрипты</a:t>
                      </a:r>
                      <a:r>
                        <a:rPr lang="ru-RU" sz="1400" b="1" dirty="0">
                          <a:solidFill>
                            <a:srgbClr val="0070C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.</a:t>
                      </a:r>
                      <a:endParaRPr lang="ru-RU" sz="1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0592" marR="30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28662" y="142852"/>
            <a:ext cx="7715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Логика, зависящая от предметной области</a:t>
            </a:r>
            <a:endParaRPr lang="ru-RU" sz="28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714348" y="1000108"/>
          <a:ext cx="8072494" cy="5286412"/>
        </p:xfrm>
        <a:graphic>
          <a:graphicData uri="http://schemas.openxmlformats.org/drawingml/2006/table">
            <a:tbl>
              <a:tblPr/>
              <a:tblGrid>
                <a:gridCol w="142876"/>
                <a:gridCol w="1928826"/>
                <a:gridCol w="6000792"/>
              </a:tblGrid>
              <a:tr h="52864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Ситуационный анализ"/>
                        </a:rPr>
                        <a:t>Ситуационный анализ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Позволяет </a:t>
                      </a:r>
                      <a:r>
                        <a:rPr lang="ru-RU" sz="1800" b="1" dirty="0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обрабатывать проблемные ситуации с учётом всех возможных </a:t>
                      </a:r>
                      <a:r>
                        <a:rPr lang="ru-RU" sz="1800" b="1" dirty="0">
                          <a:solidFill>
                            <a:srgbClr val="94363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свойств, действий, субъектов и объектов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а также </a:t>
                      </a:r>
                      <a:r>
                        <a:rPr lang="ru-RU" sz="1800" b="1" dirty="0">
                          <a:solidFill>
                            <a:srgbClr val="94363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связей между компонентами и различными вариантами развития процесса принятия решений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Интеграция 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ситуационного анализа в работу нейронной сети даёт </a:t>
                      </a:r>
                      <a:r>
                        <a:rPr lang="ru-RU" sz="1800" b="1" dirty="0">
                          <a:solidFill>
                            <a:srgbClr val="94363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возможность проверить полноту и адекватность всех обрабатываемых данных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основываясь на свойствах каждого единичного решения и их совокупности в системе. 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2657694" y="500042"/>
            <a:ext cx="3828612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b="1" i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Представление событий и времени</a:t>
            </a:r>
            <a:endParaRPr lang="ru-RU" dirty="0"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214291"/>
            <a:ext cx="82153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Логика, зависящая от предметной области</a:t>
            </a:r>
            <a:endParaRPr lang="ru-RU" sz="28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57158" y="1000108"/>
          <a:ext cx="8429684" cy="5643602"/>
        </p:xfrm>
        <a:graphic>
          <a:graphicData uri="http://schemas.openxmlformats.org/drawingml/2006/table">
            <a:tbl>
              <a:tblPr/>
              <a:tblGrid>
                <a:gridCol w="1714512"/>
                <a:gridCol w="6715172"/>
              </a:tblGrid>
              <a:tr h="56436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Исчисление событий"/>
                        </a:rPr>
                        <a:t>Исчисление событий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Используется вероятностная нотация, которая  позволяет представлять вероятности и статистические концепции и манипулировать ими. </a:t>
                      </a:r>
                      <a:endParaRPr lang="ru-RU"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indent="381635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Некоторые ключевые элементы вероятностной нотации:</a:t>
                      </a:r>
                      <a:endParaRPr lang="ru-RU"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P(A) — вероятность наступления события A.</a:t>
                      </a:r>
                      <a:endParaRPr lang="ru-RU" sz="1800" dirty="0">
                        <a:solidFill>
                          <a:srgbClr val="00B05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P(A') — вероятность того, что событие A не произойдёт.</a:t>
                      </a:r>
                      <a:endParaRPr lang="ru-RU" sz="1800" dirty="0">
                        <a:solidFill>
                          <a:srgbClr val="00B05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P(A∩B) — вероятность того, что и A, и B произойдут в одно и то же время. </a:t>
                      </a:r>
                      <a:endParaRPr lang="ru-RU" sz="1800" dirty="0">
                        <a:solidFill>
                          <a:srgbClr val="00B05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P(A∪B) — вероятность возникновения либо A, либо B. </a:t>
                      </a:r>
                      <a:endParaRPr lang="ru-RU" sz="1800" dirty="0">
                        <a:solidFill>
                          <a:srgbClr val="00B05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P(A∩B') — вероятность того, что A произойдёт, но не B. </a:t>
                      </a:r>
                      <a:endParaRPr lang="ru-RU" sz="1800" dirty="0">
                        <a:solidFill>
                          <a:srgbClr val="00B05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P(A'∪B) — вероятность того, что либо A не произойдёт, либо B произойдёт. </a:t>
                      </a:r>
                      <a:endParaRPr lang="ru-RU" sz="1800" dirty="0">
                        <a:solidFill>
                          <a:srgbClr val="00B05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Условная вероятность (P(A | B)) — вероятность наступления события A, учитывая, что событие B уже произошло. Это необходимо для обновления убеждений на основе новых доказательств. </a:t>
                      </a:r>
                      <a:endParaRPr lang="ru-RU"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Правило Байеса описывает вероятность события, базируясь на знании условий или других событий, связанных с главным событием.</a:t>
                      </a:r>
                      <a:endParaRPr lang="ru-RU"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2626916" y="571480"/>
            <a:ext cx="3890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solidFill>
                  <a:srgbClr val="C00000"/>
                </a:solidFill>
              </a:rPr>
              <a:t>Представление событий и времени</a:t>
            </a:r>
            <a:endParaRPr lang="ru-RU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571472" y="1071546"/>
          <a:ext cx="8143932" cy="5214974"/>
        </p:xfrm>
        <a:graphic>
          <a:graphicData uri="http://schemas.openxmlformats.org/drawingml/2006/table">
            <a:tbl>
              <a:tblPr/>
              <a:tblGrid>
                <a:gridCol w="2075971"/>
                <a:gridCol w="6067961"/>
              </a:tblGrid>
              <a:tr h="52149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Свободное владение математическим анализом"/>
                        </a:rPr>
                        <a:t>Свободное владение математическим анализом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Знак 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производной показывает, возрастает или убывает функция. </a:t>
                      </a: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Если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производная существует и равна нулю, то это точка экстремума (минимума или максимума).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На 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этом свойстве производной основан самый популярный метод машинного обучения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 градиентный спуск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(и вообще практически все методы машинного обучения). </a:t>
                      </a: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Градиент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функции нескольких переменных – это вектор ее частных производных по каждой из этих переменных.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642910" y="142853"/>
            <a:ext cx="82153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Логика, зависящая от предметной области</a:t>
            </a:r>
            <a:endParaRPr lang="ru-RU" sz="28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500166" y="500042"/>
            <a:ext cx="65008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>
                <a:solidFill>
                  <a:srgbClr val="C00000"/>
                </a:solidFill>
              </a:rPr>
              <a:t>Представление событий и времени</a:t>
            </a:r>
            <a:endParaRPr lang="ru-RU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42976" y="142853"/>
            <a:ext cx="74295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Логика, зависящая от предметной области</a:t>
            </a:r>
            <a:endParaRPr lang="ru-RU" sz="28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71472" y="928670"/>
          <a:ext cx="8286808" cy="5357850"/>
        </p:xfrm>
        <a:graphic>
          <a:graphicData uri="http://schemas.openxmlformats.org/drawingml/2006/table">
            <a:tbl>
              <a:tblPr/>
              <a:tblGrid>
                <a:gridCol w="1976789"/>
                <a:gridCol w="1608488"/>
                <a:gridCol w="4701531"/>
              </a:tblGrid>
              <a:tr h="53578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b="1" i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Причины и следствия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Причинно-следственная связь"/>
                        </a:rPr>
                        <a:t>Причинно-следственное исчисление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Заключается 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в том, что после сбора данных система ИИ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моделирует взаимосвязи между различными переменными.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Для 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этого могут использоваться алгоритмы машинного обучения для выявления закономерностей в данных или более формальные статистические методы,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например, моделирование структурных уравнений или </a:t>
                      </a:r>
                      <a:r>
                        <a:rPr lang="ru-RU" sz="1800" b="1" dirty="0" err="1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контрфактические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рассуждения.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857224" y="142852"/>
            <a:ext cx="72152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Логика, зависящая от предметной области</a:t>
            </a:r>
            <a:endParaRPr lang="ru-RU" sz="28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85719" y="785794"/>
          <a:ext cx="8643998" cy="5786478"/>
        </p:xfrm>
        <a:graphic>
          <a:graphicData uri="http://schemas.openxmlformats.org/drawingml/2006/table">
            <a:tbl>
              <a:tblPr/>
              <a:tblGrid>
                <a:gridCol w="1143009"/>
                <a:gridCol w="2214578"/>
                <a:gridCol w="5286411"/>
              </a:tblGrid>
              <a:tr h="1851673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i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Знания о знаниях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436" marR="454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Пересмотр убеждений"/>
                        </a:rPr>
                        <a:t>Пересмотр убеждений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436" marR="454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 smtClean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Это</a:t>
                      </a:r>
                      <a:r>
                        <a:rPr lang="ru-RU" sz="1600" dirty="0" smtClean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процесс изменения убеждений с учётом новой информации</a:t>
                      </a:r>
                      <a:r>
                        <a:rPr lang="ru-RU" sz="16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.</a:t>
                      </a: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endParaRPr lang="ru-RU" sz="1600" b="1" dirty="0" smtClean="0">
                        <a:solidFill>
                          <a:srgbClr val="7030A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 smtClean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Логическая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формализация пересмотра убеждений исследуется в философии, в базах данных и в ИИ для проектирования рациональных агентов.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436" marR="454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45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3" tooltip="Модальная логика"/>
                        </a:rPr>
                        <a:t>Модальная логика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436" marR="454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Позволяет формализовать и оперировать модальными понятиями, такими как возможность, необходимость, вероятность, временные ограничения и причинно-следственные связи. </a:t>
                      </a:r>
                      <a:endParaRPr lang="ru-RU" sz="1600" b="1" dirty="0" smtClean="0">
                        <a:solidFill>
                          <a:srgbClr val="7030A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 smtClean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Это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позволяет ИС представлять и оперировать знаниями с учётом модальных аспектов.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436" marR="454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021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u="none" strike="noStrike" dirty="0" err="1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4" tooltip="Параконсистентная логика"/>
                        </a:rPr>
                        <a:t>Параконсистентная</a:t>
                      </a:r>
                      <a:r>
                        <a:rPr lang="ru-RU" sz="1800" b="1" u="none" strike="noStrike" dirty="0">
                          <a:solidFill>
                            <a:srgbClr val="31849B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4" tooltip="Параконсистентная логика"/>
                        </a:rPr>
                        <a:t> логика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436" marR="454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Эта логика позволяет строить рассуждения и выводы, допуская неопределённость и неоднозначность. </a:t>
                      </a:r>
                      <a:endParaRPr lang="ru-RU" sz="1600" b="1" dirty="0" smtClean="0">
                        <a:solidFill>
                          <a:srgbClr val="7030A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 smtClean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Применяют </a:t>
                      </a:r>
                      <a:r>
                        <a:rPr lang="ru-RU" sz="16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в областях, где информация может быть неполной или противоречивой.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436" marR="454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357158" y="2071678"/>
          <a:ext cx="8501122" cy="2786082"/>
        </p:xfrm>
        <a:graphic>
          <a:graphicData uri="http://schemas.openxmlformats.org/drawingml/2006/table">
            <a:tbl>
              <a:tblPr/>
              <a:tblGrid>
                <a:gridCol w="1785950"/>
                <a:gridCol w="2143140"/>
                <a:gridCol w="4572032"/>
              </a:tblGrid>
              <a:tr h="27860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Обучение с использованием логики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2" tooltip="Индуктивно-логическое программирование"/>
                        </a:rPr>
                        <a:t>Индуктивно-логическое программирование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Раздел 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машинного обучения, который использует логическое программирование как форму представления примеров, фоновых знаний и гипотез</a:t>
                      </a:r>
                      <a:r>
                        <a:rPr lang="ru-RU" sz="18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14414" y="357166"/>
            <a:ext cx="70723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Общие логические алгоритмы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785786" y="1000108"/>
          <a:ext cx="8072494" cy="5429288"/>
        </p:xfrm>
        <a:graphic>
          <a:graphicData uri="http://schemas.openxmlformats.org/drawingml/2006/table">
            <a:tbl>
              <a:tblPr/>
              <a:tblGrid>
                <a:gridCol w="1925665"/>
                <a:gridCol w="6146829"/>
              </a:tblGrid>
              <a:tr h="2904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2" tooltip="Обучение, основанное на объяснениях"/>
                        </a:rPr>
                        <a:t>Обучение, основанное на объяснениях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Используют 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важные закономерности предметной области, чтобы делать обобщения или формировать концепции из обучающих примеров.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Например, так учится играть в шахматы программа, которая берёт один обучающий пример и определяет, какие функции являются релевантными, чтобы сформировать обобщение.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52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i="1" u="none" strike="noStrik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3" tooltip="Обучение на основе релевантности (страница не существует)"/>
                        </a:rPr>
                        <a:t>Обучение, основанное на релевантности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800" b="1" dirty="0" smtClean="0">
                        <a:solidFill>
                          <a:srgbClr val="7030A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Это 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процесс, посредством которого модели учатся определять наиболее важную информацию в наборе данных и расставлять приоритеты в ней</a:t>
                      </a:r>
                      <a:r>
                        <a:rPr lang="ru-RU" sz="1800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Это включает ранжирование или упорядочивание компонентов на основе их значимости, часто с использованием предопределённого критерия и помеченных данных.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85786" y="142852"/>
            <a:ext cx="79296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Общие логические алгоритмы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642910" y="857232"/>
          <a:ext cx="8143932" cy="5643602"/>
        </p:xfrm>
        <a:graphic>
          <a:graphicData uri="http://schemas.openxmlformats.org/drawingml/2006/table">
            <a:tbl>
              <a:tblPr/>
              <a:tblGrid>
                <a:gridCol w="1942707"/>
                <a:gridCol w="6201225"/>
              </a:tblGrid>
              <a:tr h="15733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2" tooltip="Рассуждения, основанные на конкретных примерах"/>
                        </a:rPr>
                        <a:t>Рассуждения, основанные на конкретных примерах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err="1" smtClean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Сase-based</a:t>
                      </a: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ru-RU" sz="1800" b="1" dirty="0" err="1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reasoning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в искусственном интеллекте.</a:t>
                      </a:r>
                      <a:r>
                        <a:rPr lang="ru-RU" sz="18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Это процесс решения новых проблем, основанный на решениях аналогичных прошлых проблем</a:t>
                      </a:r>
                      <a:r>
                        <a:rPr lang="ru-RU" sz="1800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02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i="1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hlinkClick r:id="rId3" tooltip="Автоматическое доказательство теорем"/>
                        </a:rPr>
                        <a:t>Автоматическое доказательство теорем</a:t>
                      </a:r>
                      <a:endParaRPr lang="ru-RU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8211" marR="5821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 b="1" dirty="0" smtClean="0">
                        <a:solidFill>
                          <a:srgbClr val="7030A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1" dirty="0" smtClean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Это </a:t>
                      </a: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доказательство, реализованное программно. В основе лежит аппарат математической логики и идеи теории ИИ.</a:t>
                      </a:r>
                      <a:endParaRPr lang="ru-RU"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Основные методы:</a:t>
                      </a:r>
                      <a:endParaRPr lang="ru-RU"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Метод резолюций. Выводит заключения из клаузул, ускоряет процесс доказательства. </a:t>
                      </a:r>
                      <a:endParaRPr lang="ru-RU" sz="1800" dirty="0">
                        <a:solidFill>
                          <a:srgbClr val="00B05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Метод таблиц. Использует древовидную структуру, эффективен для логики первого порядка. </a:t>
                      </a:r>
                      <a:endParaRPr lang="ru-RU" sz="1800" dirty="0">
                        <a:solidFill>
                          <a:srgbClr val="00B05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Метод </a:t>
                      </a:r>
                      <a:r>
                        <a:rPr lang="ru-RU" sz="1800" b="1" dirty="0" err="1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Эрбрана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 Основан на теореме </a:t>
                      </a:r>
                      <a:r>
                        <a:rPr lang="ru-RU" sz="1800" b="1" dirty="0" err="1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Эрбрана</a:t>
                      </a:r>
                      <a:r>
                        <a:rPr lang="ru-RU" sz="18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, определяет невыполнимость клаузул. </a:t>
                      </a:r>
                      <a:endParaRPr lang="ru-RU" sz="1800" dirty="0">
                        <a:solidFill>
                          <a:srgbClr val="00B05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7030A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 промышленности применяется в основном при разработке и верификации интегральных схем и программного обеспечения. </a:t>
                      </a:r>
                      <a:endParaRPr lang="ru-RU"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8211" marR="582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571472" y="500042"/>
            <a:ext cx="7643866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76923C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Вероятностные методы для неопределенных рассуждений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984806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Стохастические методы для неопределенных рассуждений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hlinkClick r:id="rId2" tooltip="Байесовская сеть"/>
              </a:rPr>
              <a:t>Байесовские сети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3" tooltip="Байесовский вывод"/>
              </a:rPr>
              <a:t>Алгоритм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байесовского вывода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4" tooltip="Байесовское обучение"/>
              </a:rPr>
              <a:t>Байесовское обучение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 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5" tooltip="Алгоритм максимизации ожиданий"/>
              </a:rPr>
              <a:t>алгоритм максимизации ожиданий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6" tooltip="Байесовская теория принятия решений"/>
              </a:rPr>
              <a:t>Байесовская теория принятия решений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 байесовские 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7" tooltip="Сеть принятия решений"/>
              </a:rPr>
              <a:t>сети принятия решений</a:t>
            </a:r>
            <a:endParaRPr kumimoji="0" lang="ru-RU" sz="20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984806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Вероятностное восприятие и контроль: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8" tooltip="Динамическая байесовская сеть"/>
              </a:rPr>
              <a:t>Динамические байесовские сети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9" tooltip="Скрытая марковская модель"/>
              </a:rPr>
              <a:t>Скрытая </a:t>
            </a:r>
            <a:r>
              <a:rPr kumimoji="0" lang="ru-RU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9" tooltip="Скрытая марковская модель"/>
              </a:rPr>
              <a:t>марковская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9" tooltip="Скрытая марковская модель"/>
              </a:rPr>
              <a:t> модель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10" tooltip="Фильтр Калмана"/>
              </a:rPr>
              <a:t>Фильтры </a:t>
            </a:r>
            <a:r>
              <a:rPr kumimoji="0" lang="ru-RU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10" tooltip="Фильтр Калмана"/>
              </a:rPr>
              <a:t>Калмана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11" tooltip="Нечеткая логика"/>
              </a:rPr>
              <a:t>Нечеткая логика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714348" y="1000108"/>
            <a:ext cx="7786742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76923C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Вероятностные методы для неопределенных рассуждений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984806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Инструменты принятия решений из экономики: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2" tooltip="Теория принятия решений"/>
              </a:rPr>
              <a:t>Теория принятия решений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3" tooltip="Анализ принятия решений"/>
              </a:rPr>
              <a:t>Анализ принятия решений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Теория ценности информации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4" tooltip="Процесс принятия решений по Маркову"/>
              </a:rPr>
              <a:t>Марковские процессы принятия решений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Динамические 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5" tooltip="Сеть принятия решений"/>
              </a:rPr>
              <a:t>сети принятия решений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6" tooltip="Теория игр"/>
              </a:rPr>
              <a:t>Теория игр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7" tooltip="Конструкция механизма"/>
              </a:rPr>
              <a:t>Конструкция механизма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984806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8" tooltip="Алгоритмическая теория информации"/>
              </a:rPr>
              <a:t>Алгоритмическая теория информации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984806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9" tooltip="Алгоритмическая вероятность"/>
              </a:rPr>
              <a:t>Алгоритмическая вероятность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1945</Words>
  <Application>Microsoft Office PowerPoint</Application>
  <PresentationFormat>Экран (4:3)</PresentationFormat>
  <Paragraphs>217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Win 10 Pro</dc:creator>
  <cp:lastModifiedBy>Win 10 Pro</cp:lastModifiedBy>
  <cp:revision>26</cp:revision>
  <dcterms:created xsi:type="dcterms:W3CDTF">2025-09-03T15:57:59Z</dcterms:created>
  <dcterms:modified xsi:type="dcterms:W3CDTF">2025-09-03T17:32:48Z</dcterms:modified>
</cp:coreProperties>
</file>