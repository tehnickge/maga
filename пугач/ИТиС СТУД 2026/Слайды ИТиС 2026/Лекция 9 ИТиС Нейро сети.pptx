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92" r:id="rId3"/>
    <p:sldId id="259" r:id="rId4"/>
    <p:sldId id="293" r:id="rId5"/>
    <p:sldId id="275" r:id="rId6"/>
    <p:sldId id="295" r:id="rId7"/>
    <p:sldId id="312" r:id="rId8"/>
    <p:sldId id="313" r:id="rId9"/>
    <p:sldId id="314" r:id="rId10"/>
    <p:sldId id="315" r:id="rId11"/>
    <p:sldId id="318" r:id="rId12"/>
    <p:sldId id="321" r:id="rId13"/>
    <p:sldId id="322" r:id="rId14"/>
    <p:sldId id="319" r:id="rId15"/>
    <p:sldId id="316" r:id="rId16"/>
    <p:sldId id="317" r:id="rId17"/>
    <p:sldId id="296" r:id="rId18"/>
    <p:sldId id="298" r:id="rId19"/>
    <p:sldId id="297" r:id="rId20"/>
    <p:sldId id="299" r:id="rId21"/>
    <p:sldId id="278" r:id="rId22"/>
    <p:sldId id="279" r:id="rId23"/>
    <p:sldId id="300" r:id="rId24"/>
    <p:sldId id="287" r:id="rId25"/>
    <p:sldId id="301" r:id="rId26"/>
    <p:sldId id="302" r:id="rId27"/>
    <p:sldId id="304" r:id="rId28"/>
    <p:sldId id="281" r:id="rId29"/>
    <p:sldId id="288" r:id="rId30"/>
    <p:sldId id="320" r:id="rId31"/>
    <p:sldId id="282" r:id="rId32"/>
    <p:sldId id="306" r:id="rId33"/>
    <p:sldId id="307" r:id="rId34"/>
    <p:sldId id="283" r:id="rId35"/>
    <p:sldId id="284" r:id="rId36"/>
    <p:sldId id="285" r:id="rId37"/>
    <p:sldId id="305" r:id="rId38"/>
    <p:sldId id="291" r:id="rId39"/>
    <p:sldId id="309" r:id="rId40"/>
    <p:sldId id="310" r:id="rId41"/>
    <p:sldId id="311" r:id="rId42"/>
    <p:sldId id="340" r:id="rId43"/>
    <p:sldId id="339" r:id="rId44"/>
    <p:sldId id="290" r:id="rId45"/>
    <p:sldId id="286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335" r:id="rId59"/>
    <p:sldId id="336" r:id="rId60"/>
    <p:sldId id="337" r:id="rId6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10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8EE155-3568-4E67-81DD-D20348F99D73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EB20C-6CF2-4421-9EE6-27C90C84E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9D2B4-F882-449E-8F2D-2847C89C21BE}" type="datetimeFigureOut">
              <a:rPr lang="ru-RU" smtClean="0"/>
              <a:pPr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AE306-5DC1-4945-99FE-679AD3233C4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071547"/>
            <a:ext cx="7772400" cy="2928957"/>
          </a:xfrm>
        </p:spPr>
        <p:txBody>
          <a:bodyPr>
            <a:normAutofit/>
          </a:bodyPr>
          <a:lstStyle/>
          <a:p>
            <a:r>
              <a:rPr lang="ru-RU" sz="54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Нейронные сети</a:t>
            </a:r>
            <a:endParaRPr lang="ru-RU" sz="54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1538" y="428605"/>
            <a:ext cx="7386662" cy="714379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002060"/>
                </a:solidFill>
              </a:rPr>
              <a:t>В основе лежит машинное обучение.</a:t>
            </a:r>
            <a:endParaRPr lang="ru-RU" sz="3200" dirty="0">
              <a:solidFill>
                <a:srgbClr val="00206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8596" y="1285860"/>
            <a:ext cx="8429684" cy="2357454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ru-RU" sz="4000" dirty="0" smtClean="0">
                <a:solidFill>
                  <a:srgbClr val="7030A0"/>
                </a:solidFill>
              </a:rPr>
              <a:t>Машинное обучение ( </a:t>
            </a:r>
            <a:r>
              <a:rPr lang="ru-RU" sz="4000" dirty="0" err="1" smtClean="0">
                <a:solidFill>
                  <a:srgbClr val="7030A0"/>
                </a:solidFill>
              </a:rPr>
              <a:t>machine</a:t>
            </a:r>
            <a:r>
              <a:rPr lang="ru-RU" sz="4000" dirty="0" smtClean="0">
                <a:solidFill>
                  <a:srgbClr val="7030A0"/>
                </a:solidFill>
              </a:rPr>
              <a:t> </a:t>
            </a:r>
            <a:r>
              <a:rPr lang="ru-RU" sz="4000" dirty="0" err="1" smtClean="0">
                <a:solidFill>
                  <a:srgbClr val="7030A0"/>
                </a:solidFill>
              </a:rPr>
              <a:t>learning</a:t>
            </a:r>
            <a:r>
              <a:rPr lang="ru-RU" sz="4000" dirty="0" smtClean="0">
                <a:solidFill>
                  <a:srgbClr val="7030A0"/>
                </a:solidFill>
              </a:rPr>
              <a:t>, ML) - класс методов искусственного интеллекта. Используется обучение в процессе применения решений множества сходных задач.  Для построения используют средства: </a:t>
            </a:r>
          </a:p>
          <a:p>
            <a:pPr algn="l"/>
            <a:r>
              <a:rPr lang="ru-RU" sz="4000" dirty="0" smtClean="0">
                <a:solidFill>
                  <a:srgbClr val="7030A0"/>
                </a:solidFill>
              </a:rPr>
              <a:t> </a:t>
            </a:r>
            <a:r>
              <a:rPr lang="ru-RU" sz="4000" dirty="0" smtClean="0">
                <a:solidFill>
                  <a:schemeClr val="accent2">
                    <a:lumMod val="75000"/>
                  </a:schemeClr>
                </a:solidFill>
              </a:rPr>
              <a:t>- математической статистики</a:t>
            </a:r>
          </a:p>
          <a:p>
            <a:pPr algn="l"/>
            <a:r>
              <a:rPr lang="ru-RU" sz="4000" dirty="0" smtClean="0">
                <a:solidFill>
                  <a:schemeClr val="accent2">
                    <a:lumMod val="75000"/>
                  </a:schemeClr>
                </a:solidFill>
              </a:rPr>
              <a:t> - численных методов</a:t>
            </a:r>
          </a:p>
          <a:p>
            <a:pPr algn="l"/>
            <a:r>
              <a:rPr lang="ru-RU" sz="4000" dirty="0" smtClean="0">
                <a:solidFill>
                  <a:schemeClr val="accent2">
                    <a:lumMod val="75000"/>
                  </a:schemeClr>
                </a:solidFill>
              </a:rPr>
              <a:t> - методов оптимизации</a:t>
            </a:r>
          </a:p>
          <a:p>
            <a:pPr algn="l"/>
            <a:r>
              <a:rPr lang="ru-RU" sz="4000" dirty="0" smtClean="0">
                <a:solidFill>
                  <a:schemeClr val="accent2">
                    <a:lumMod val="75000"/>
                  </a:schemeClr>
                </a:solidFill>
              </a:rPr>
              <a:t> - теории вероятностей</a:t>
            </a:r>
          </a:p>
          <a:p>
            <a:pPr algn="l"/>
            <a:r>
              <a:rPr lang="ru-RU" sz="4000" dirty="0" smtClean="0">
                <a:solidFill>
                  <a:schemeClr val="accent2">
                    <a:lumMod val="75000"/>
                  </a:schemeClr>
                </a:solidFill>
              </a:rPr>
              <a:t> - теории графов.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ru-RU" sz="4000" dirty="0">
              <a:solidFill>
                <a:srgbClr val="7030A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3714753"/>
            <a:ext cx="8143932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accent5">
                    <a:lumMod val="75000"/>
                  </a:schemeClr>
                </a:solidFill>
              </a:rPr>
              <a:t>Различают два типа обучения:</a:t>
            </a:r>
          </a:p>
          <a:p>
            <a:r>
              <a:rPr lang="ru-RU" sz="2000" dirty="0" smtClean="0">
                <a:solidFill>
                  <a:schemeClr val="accent2">
                    <a:lumMod val="75000"/>
                  </a:schemeClr>
                </a:solidFill>
              </a:rPr>
              <a:t>   - Обучение по прецедентам, или индуктивное обучение, основано на выявлении эмпирических закономерностей в данных.</a:t>
            </a:r>
          </a:p>
          <a:p>
            <a:endParaRPr lang="ru-RU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ru-RU" sz="2000" dirty="0" smtClean="0">
                <a:solidFill>
                  <a:schemeClr val="accent2">
                    <a:lumMod val="75000"/>
                  </a:schemeClr>
                </a:solidFill>
              </a:rPr>
              <a:t>   - Дедуктивное обучение предполагает формализацию знаний</a:t>
            </a:r>
          </a:p>
          <a:p>
            <a:r>
              <a:rPr lang="ru-RU" sz="2000" dirty="0" smtClean="0">
                <a:solidFill>
                  <a:schemeClr val="accent2">
                    <a:lumMod val="75000"/>
                  </a:schemeClr>
                </a:solidFill>
              </a:rPr>
              <a:t>экспертов и их перенос в компьютер в виде базы знаний.</a:t>
            </a:r>
          </a:p>
          <a:p>
            <a:endParaRPr lang="ru-RU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428605"/>
            <a:ext cx="7772400" cy="1071569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0070C0"/>
                </a:solidFill>
              </a:rPr>
              <a:t>Обучение на основе нейронных сетей </a:t>
            </a:r>
            <a:endParaRPr lang="ru-RU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1472" y="2071678"/>
            <a:ext cx="8215370" cy="4071966"/>
          </a:xfrm>
        </p:spPr>
        <p:txBody>
          <a:bodyPr>
            <a:normAutofit/>
          </a:bodyPr>
          <a:lstStyle/>
          <a:p>
            <a:pPr algn="l"/>
            <a:endParaRPr lang="ru-RU" sz="4000" dirty="0">
              <a:solidFill>
                <a:srgbClr val="7030A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000240"/>
            <a:ext cx="7919908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7224" y="428605"/>
            <a:ext cx="7600976" cy="1071569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002060"/>
                </a:solidFill>
              </a:rPr>
              <a:t>Современная </a:t>
            </a:r>
            <a:r>
              <a:rPr lang="ru-RU" sz="3600" dirty="0" err="1" smtClean="0">
                <a:solidFill>
                  <a:srgbClr val="002060"/>
                </a:solidFill>
              </a:rPr>
              <a:t>нейроинформатика</a:t>
            </a:r>
            <a:r>
              <a:rPr lang="ru-RU" sz="3600" dirty="0" smtClean="0">
                <a:solidFill>
                  <a:srgbClr val="002060"/>
                </a:solidFill>
              </a:rPr>
              <a:t> включает: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8596" y="1643050"/>
            <a:ext cx="8429684" cy="4429156"/>
          </a:xfrm>
        </p:spPr>
        <p:txBody>
          <a:bodyPr>
            <a:normAutofit fontScale="77500" lnSpcReduction="20000"/>
          </a:bodyPr>
          <a:lstStyle/>
          <a:p>
            <a:pPr algn="l">
              <a:buFont typeface="Wingdings" pitchFamily="2" charset="2"/>
              <a:buChar char="q"/>
            </a:pPr>
            <a:r>
              <a:rPr lang="ru-RU" sz="4000" dirty="0" smtClean="0">
                <a:solidFill>
                  <a:srgbClr val="7030A0"/>
                </a:solidFill>
              </a:rPr>
              <a:t> Исследование и моделирование биологических  процессов в реальных нервных системах.</a:t>
            </a:r>
          </a:p>
          <a:p>
            <a:pPr algn="l">
              <a:buFont typeface="Wingdings" pitchFamily="2" charset="2"/>
              <a:buChar char="q"/>
            </a:pPr>
            <a:r>
              <a:rPr lang="ru-RU" sz="4000" dirty="0" smtClean="0">
                <a:solidFill>
                  <a:srgbClr val="7030A0"/>
                </a:solidFill>
              </a:rPr>
              <a:t>Создание технических систем на базе моделей нервной системы (в том числе человека).</a:t>
            </a:r>
          </a:p>
          <a:p>
            <a:pPr algn="just"/>
            <a:endParaRPr lang="ru-RU" sz="4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ru-RU" sz="4000" dirty="0" smtClean="0">
                <a:solidFill>
                  <a:schemeClr val="accent2">
                    <a:lumMod val="75000"/>
                  </a:schemeClr>
                </a:solidFill>
              </a:rPr>
              <a:t>В настоящее время происходит переориентация исследований в области ИИ с логических задач на задачи моделирования </a:t>
            </a:r>
            <a:r>
              <a:rPr lang="ru-RU" sz="4000" dirty="0" smtClean="0">
                <a:solidFill>
                  <a:srgbClr val="00B050"/>
                </a:solidFill>
              </a:rPr>
              <a:t>биологических процессов</a:t>
            </a:r>
            <a:r>
              <a:rPr lang="ru-RU" sz="4000" dirty="0" smtClean="0">
                <a:solidFill>
                  <a:srgbClr val="7030A0"/>
                </a:solidFill>
              </a:rPr>
              <a:t>.</a:t>
            </a:r>
            <a:endParaRPr lang="ru-RU" sz="4000" dirty="0">
              <a:solidFill>
                <a:srgbClr val="7030A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3714753"/>
            <a:ext cx="81439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85729"/>
            <a:ext cx="7772400" cy="1000131"/>
          </a:xfrm>
        </p:spPr>
        <p:txBody>
          <a:bodyPr/>
          <a:lstStyle/>
          <a:p>
            <a:r>
              <a:rPr lang="ru-RU" b="1" dirty="0">
                <a:solidFill>
                  <a:srgbClr val="7030A0"/>
                </a:solidFill>
              </a:rPr>
              <a:t>Особенности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2910" y="1142984"/>
            <a:ext cx="8072494" cy="5286412"/>
          </a:xfrm>
        </p:spPr>
        <p:txBody>
          <a:bodyPr>
            <a:normAutofit fontScale="77500" lnSpcReduction="20000"/>
          </a:bodyPr>
          <a:lstStyle/>
          <a:p>
            <a:pPr lvl="0" algn="l" hangingPunct="0">
              <a:buFont typeface="Wingdings" pitchFamily="2" charset="2"/>
              <a:buChar char="Ø"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ИНС ориентированы на параллельные вычисления;</a:t>
            </a:r>
          </a:p>
          <a:p>
            <a:pPr lvl="0" algn="l" hangingPunct="0">
              <a:buFont typeface="Wingdings" pitchFamily="2" charset="2"/>
              <a:buChar char="Ø"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ИНС не работают по жесткому алгоритму, а каждый 	раз обучаются решению проблемы;</a:t>
            </a:r>
          </a:p>
          <a:p>
            <a:pPr lvl="0" algn="l" hangingPunct="0">
              <a:buFont typeface="Wingdings" pitchFamily="2" charset="2"/>
              <a:buChar char="Ø"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Серьезная проблема - обучение сети ( организация 	специальных наборов данных; большие 	временные затраты и т.п.);</a:t>
            </a:r>
          </a:p>
          <a:p>
            <a:pPr lvl="0" algn="l" hangingPunct="0">
              <a:buFont typeface="Wingdings" pitchFamily="2" charset="2"/>
              <a:buChar char="Ø"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Нейронные ЭВМ не годятся для решения точных 	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</a:rPr>
              <a:t>задач (?);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  <a:p>
            <a:pPr lvl="0" algn="l" hangingPunct="0">
              <a:buFont typeface="Wingdings" pitchFamily="2" charset="2"/>
              <a:buChar char="Ø"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ИНС - ориентированы на обработку изображений, 	распознавание речи и т.д., т.е. на то, где 	необходимо обрабатывать неполную или 	неточную информацию;</a:t>
            </a:r>
          </a:p>
          <a:p>
            <a:pPr lvl="0" algn="l" hangingPunct="0">
              <a:buFont typeface="Wingdings" pitchFamily="2" charset="2"/>
              <a:buChar char="Ø"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Неспособность объяснять свои выводы. </a:t>
            </a: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0" algn="l" hangingPunct="0">
              <a:buFont typeface="Wingdings" pitchFamily="2" charset="2"/>
              <a:buChar char="Ø"/>
            </a:pPr>
            <a:r>
              <a:rPr lang="ru-RU" dirty="0" smtClean="0"/>
              <a:t> Результат их работы зависит от выбора исходных данных для обучения.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  <a:p>
            <a:pPr algn="l">
              <a:buFont typeface="Wingdings" pitchFamily="2" charset="2"/>
              <a:buChar char="Ø"/>
            </a:pP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2976" y="428604"/>
            <a:ext cx="7715304" cy="6000792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Виды нейронных сетей</a:t>
            </a:r>
          </a:p>
          <a:p>
            <a:r>
              <a:rPr lang="ru-RU" dirty="0" smtClean="0"/>
              <a:t>(с точки зрения решаемых задач)</a:t>
            </a:r>
          </a:p>
          <a:p>
            <a:pPr algn="l"/>
            <a:r>
              <a:rPr lang="ru-RU" dirty="0" smtClean="0">
                <a:solidFill>
                  <a:srgbClr val="0070C0"/>
                </a:solidFill>
              </a:rPr>
              <a:t>● многослойные нейронные сети, или </a:t>
            </a:r>
            <a:r>
              <a:rPr lang="ru-RU" dirty="0" err="1" smtClean="0">
                <a:solidFill>
                  <a:srgbClr val="0070C0"/>
                </a:solidFill>
              </a:rPr>
              <a:t>перцептроны</a:t>
            </a:r>
            <a:r>
              <a:rPr lang="ru-RU" dirty="0" smtClean="0">
                <a:solidFill>
                  <a:srgbClr val="0070C0"/>
                </a:solidFill>
              </a:rPr>
              <a:t> </a:t>
            </a:r>
            <a:r>
              <a:rPr lang="ru-RU" dirty="0" smtClean="0">
                <a:solidFill>
                  <a:schemeClr val="accent4">
                    <a:lumMod val="75000"/>
                  </a:schemeClr>
                </a:solidFill>
              </a:rPr>
              <a:t>(обрабатывают числовые данные)</a:t>
            </a:r>
            <a:r>
              <a:rPr lang="ru-RU" dirty="0" smtClean="0">
                <a:solidFill>
                  <a:srgbClr val="0070C0"/>
                </a:solidFill>
              </a:rPr>
              <a:t>;</a:t>
            </a:r>
          </a:p>
          <a:p>
            <a:pPr algn="l"/>
            <a:r>
              <a:rPr lang="ru-RU" dirty="0" smtClean="0">
                <a:solidFill>
                  <a:srgbClr val="0070C0"/>
                </a:solidFill>
              </a:rPr>
              <a:t>● </a:t>
            </a:r>
            <a:r>
              <a:rPr lang="ru-RU" dirty="0" err="1" smtClean="0">
                <a:solidFill>
                  <a:srgbClr val="0070C0"/>
                </a:solidFill>
              </a:rPr>
              <a:t>свёрточные</a:t>
            </a:r>
            <a:r>
              <a:rPr lang="ru-RU" dirty="0" smtClean="0">
                <a:solidFill>
                  <a:srgbClr val="0070C0"/>
                </a:solidFill>
              </a:rPr>
              <a:t> нейронные сети </a:t>
            </a:r>
            <a:r>
              <a:rPr lang="ru-RU" dirty="0" smtClean="0">
                <a:solidFill>
                  <a:schemeClr val="accent4">
                    <a:lumMod val="75000"/>
                  </a:schemeClr>
                </a:solidFill>
              </a:rPr>
              <a:t>(работают с изображениями)</a:t>
            </a:r>
            <a:r>
              <a:rPr lang="ru-RU" dirty="0" smtClean="0">
                <a:solidFill>
                  <a:srgbClr val="0070C0"/>
                </a:solidFill>
              </a:rPr>
              <a:t>;</a:t>
            </a:r>
          </a:p>
          <a:p>
            <a:pPr algn="l"/>
            <a:r>
              <a:rPr lang="ru-RU" dirty="0" smtClean="0">
                <a:solidFill>
                  <a:srgbClr val="0070C0"/>
                </a:solidFill>
              </a:rPr>
              <a:t>● рекуррентные нейронные сети </a:t>
            </a:r>
            <a:r>
              <a:rPr lang="ru-RU" dirty="0" smtClean="0">
                <a:solidFill>
                  <a:schemeClr val="accent4">
                    <a:lumMod val="75000"/>
                  </a:schemeClr>
                </a:solidFill>
              </a:rPr>
              <a:t>(собирают и обрабатывают информацию, которая меняется с течением времени)</a:t>
            </a:r>
            <a:r>
              <a:rPr lang="ru-RU" dirty="0" smtClean="0">
                <a:solidFill>
                  <a:srgbClr val="0070C0"/>
                </a:solidFill>
              </a:rPr>
              <a:t>;</a:t>
            </a:r>
          </a:p>
          <a:p>
            <a:pPr algn="l"/>
            <a:r>
              <a:rPr lang="ru-RU" dirty="0" smtClean="0">
                <a:solidFill>
                  <a:srgbClr val="0070C0"/>
                </a:solidFill>
              </a:rPr>
              <a:t>● генеративные нейронные сети </a:t>
            </a:r>
            <a:r>
              <a:rPr lang="ru-RU" dirty="0" smtClean="0">
                <a:solidFill>
                  <a:schemeClr val="accent4">
                    <a:lumMod val="75000"/>
                  </a:schemeClr>
                </a:solidFill>
              </a:rPr>
              <a:t>(создают </a:t>
            </a:r>
            <a:r>
              <a:rPr lang="ru-RU" dirty="0" err="1" smtClean="0">
                <a:solidFill>
                  <a:schemeClr val="accent4">
                    <a:lumMod val="75000"/>
                  </a:schemeClr>
                </a:solidFill>
              </a:rPr>
              <a:t>контент</a:t>
            </a:r>
            <a:r>
              <a:rPr lang="ru-RU" dirty="0" smtClean="0">
                <a:solidFill>
                  <a:schemeClr val="accent4">
                    <a:lumMod val="75000"/>
                  </a:schemeClr>
                </a:solidFill>
              </a:rPr>
              <a:t> — тексты, изображения)</a:t>
            </a:r>
            <a:r>
              <a:rPr lang="ru-RU" dirty="0" smtClean="0">
                <a:solidFill>
                  <a:srgbClr val="0070C0"/>
                </a:solidFill>
              </a:rPr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813" y="447675"/>
            <a:ext cx="8334375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377" y="785795"/>
            <a:ext cx="8591912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212" y="1000109"/>
            <a:ext cx="8758299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8929718" cy="3656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00039"/>
            <a:ext cx="9045582" cy="5843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214422"/>
            <a:ext cx="8224826" cy="43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857224" y="285728"/>
            <a:ext cx="79296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6">
                    <a:lumMod val="50000"/>
                  </a:schemeClr>
                </a:solidFill>
              </a:rPr>
              <a:t>Основные типы генеративных моделей</a:t>
            </a:r>
            <a:endParaRPr lang="ru-RU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ChangeArrowheads="1"/>
          </p:cNvSpPr>
          <p:nvPr/>
        </p:nvSpPr>
        <p:spPr bwMode="auto">
          <a:xfrm>
            <a:off x="214282" y="357166"/>
            <a:ext cx="8858312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Генеративно-состязательные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сети (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Generative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Adversarial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Networks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GAN) -  обучаются генерировать новые данные путем соревнования двух сетей (одна генерирует, вторая  оценивает правильность.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Вариационные 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автокодировщики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Variational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Autoencoders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VAE) - обучаются генерировать новые данные путем генерации кода и декодирования его в новые данные.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Flow-based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генеративные модели -  используют параметрические преобразования для преобразования набора случайных величин в новый набор данных.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14282" y="285728"/>
            <a:ext cx="8501122" cy="603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</a:t>
            </a: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Приложения генеративных нейронных сетей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Генерация изображений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.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Модели 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Deep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Convolutional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Generative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Adversarial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Networks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(DCGAN), могут генерировать  реалистичные изображения.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Музыкальная композиция.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Могут создавать новые музыкальные произведения на основе существующих.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Генерация текста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. 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Позволяют  генерировать связные,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контекстуально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релевантные абзацы или даже целые статьи.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Виртуальные миры и видеоигры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.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Обучаясь на существующих игровых ресурсах, модели могут создавать новые уровни и  персонажи с уникальным поведением.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 smtClean="0">
              <a:solidFill>
                <a:srgbClr val="212529"/>
              </a:solidFill>
              <a:latin typeface="Segoe UI" pitchFamily="34" charset="0"/>
              <a:ea typeface="Times New Roman" pitchFamily="18" charset="0"/>
              <a:cs typeface="Segoe U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Можно закодировать генеративную нейронную сеть, используя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Python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и библиотеку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TensorFlow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. 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519113"/>
            <a:ext cx="9001125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28"/>
            <a:ext cx="7900149" cy="625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357166"/>
            <a:ext cx="828680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002060"/>
                </a:solidFill>
              </a:rPr>
              <a:t>Этапы развития нейронных сетей (литература)</a:t>
            </a:r>
          </a:p>
          <a:p>
            <a:r>
              <a:rPr lang="ru-RU" dirty="0" smtClean="0"/>
              <a:t>• 1943 г. У.С. </a:t>
            </a:r>
            <a:r>
              <a:rPr lang="ru-RU" dirty="0" err="1" smtClean="0"/>
              <a:t>МакКаллок</a:t>
            </a:r>
            <a:r>
              <a:rPr lang="ru-RU" dirty="0" smtClean="0"/>
              <a:t> и </a:t>
            </a:r>
            <a:r>
              <a:rPr lang="ru-RU" dirty="0" err="1" smtClean="0"/>
              <a:t>В.Питтс</a:t>
            </a:r>
            <a:r>
              <a:rPr lang="ru-RU" dirty="0" smtClean="0"/>
              <a:t> «Логическое исчисление идей, относящихся к нервной активности».</a:t>
            </a:r>
          </a:p>
          <a:p>
            <a:r>
              <a:rPr lang="ru-RU" dirty="0" smtClean="0"/>
              <a:t>• 1948 г. Дж. Фон Нейман «Теория автоматов».</a:t>
            </a:r>
          </a:p>
          <a:p>
            <a:r>
              <a:rPr lang="ru-RU" dirty="0" smtClean="0"/>
              <a:t>• 1949 г. Д.О. </a:t>
            </a:r>
            <a:r>
              <a:rPr lang="ru-RU" dirty="0" err="1" smtClean="0"/>
              <a:t>Хебб</a:t>
            </a:r>
            <a:r>
              <a:rPr lang="ru-RU" dirty="0" smtClean="0"/>
              <a:t> «Организация поведения».</a:t>
            </a:r>
          </a:p>
          <a:p>
            <a:r>
              <a:rPr lang="ru-RU" dirty="0" smtClean="0"/>
              <a:t>• 1954 г. М. Минский «Обучение с подкреплением». (</a:t>
            </a:r>
            <a:r>
              <a:rPr lang="ru-RU" dirty="0" err="1" smtClean="0"/>
              <a:t>Док.дис</a:t>
            </a:r>
            <a:r>
              <a:rPr lang="ru-RU" dirty="0" smtClean="0"/>
              <a:t>.).</a:t>
            </a:r>
          </a:p>
          <a:p>
            <a:r>
              <a:rPr lang="ru-RU" dirty="0" smtClean="0"/>
              <a:t>• 1958 г. Ф. </a:t>
            </a:r>
            <a:r>
              <a:rPr lang="ru-RU" dirty="0" err="1" smtClean="0"/>
              <a:t>Розенблатт</a:t>
            </a:r>
            <a:r>
              <a:rPr lang="ru-RU" dirty="0" smtClean="0"/>
              <a:t> «Персептрон».</a:t>
            </a:r>
          </a:p>
          <a:p>
            <a:r>
              <a:rPr lang="ru-RU" dirty="0" smtClean="0"/>
              <a:t>• 1967 г. М.Минский и С. Пейперт «Персептроны».</a:t>
            </a:r>
          </a:p>
          <a:p>
            <a:r>
              <a:rPr lang="ru-RU" dirty="0" smtClean="0"/>
              <a:t>• 1973 г. Т. </a:t>
            </a:r>
            <a:r>
              <a:rPr lang="ru-RU" dirty="0" err="1" smtClean="0"/>
              <a:t>Кохонен</a:t>
            </a:r>
            <a:r>
              <a:rPr lang="ru-RU" dirty="0" smtClean="0"/>
              <a:t> «Самоорганизующиеся карты».</a:t>
            </a:r>
          </a:p>
          <a:p>
            <a:r>
              <a:rPr lang="ru-RU" dirty="0" smtClean="0"/>
              <a:t>• 1980 г. С. </a:t>
            </a:r>
            <a:r>
              <a:rPr lang="ru-RU" dirty="0" err="1" smtClean="0"/>
              <a:t>Гроссберг</a:t>
            </a:r>
            <a:r>
              <a:rPr lang="ru-RU" dirty="0" smtClean="0"/>
              <a:t> «Теория адаптивного резонанса».</a:t>
            </a:r>
          </a:p>
          <a:p>
            <a:r>
              <a:rPr lang="ru-RU" dirty="0" smtClean="0"/>
              <a:t>• 1982 г. Дж. </a:t>
            </a:r>
            <a:r>
              <a:rPr lang="ru-RU" dirty="0" err="1" smtClean="0"/>
              <a:t>Хопфилд</a:t>
            </a:r>
            <a:r>
              <a:rPr lang="ru-RU" dirty="0" smtClean="0"/>
              <a:t> «Рекуррентные сети» («Динамические сети»).</a:t>
            </a:r>
          </a:p>
          <a:p>
            <a:r>
              <a:rPr lang="ru-RU" dirty="0" smtClean="0"/>
              <a:t>• 1983 г. С. </a:t>
            </a:r>
            <a:r>
              <a:rPr lang="ru-RU" dirty="0" err="1" smtClean="0"/>
              <a:t>Киркпатрик</a:t>
            </a:r>
            <a:r>
              <a:rPr lang="ru-RU" dirty="0" smtClean="0"/>
              <a:t> «Имитация отжига».</a:t>
            </a:r>
          </a:p>
          <a:p>
            <a:r>
              <a:rPr lang="ru-RU" dirty="0" smtClean="0"/>
              <a:t>• 1983 г. Э.Г. </a:t>
            </a:r>
            <a:r>
              <a:rPr lang="ru-RU" dirty="0" err="1" smtClean="0"/>
              <a:t>Барто</a:t>
            </a:r>
            <a:r>
              <a:rPr lang="ru-RU" dirty="0" smtClean="0"/>
              <a:t> «Обучение с подкреплением».</a:t>
            </a:r>
          </a:p>
          <a:p>
            <a:r>
              <a:rPr lang="ru-RU" dirty="0" smtClean="0"/>
              <a:t>• 1986 г. Д.Е. </a:t>
            </a:r>
            <a:r>
              <a:rPr lang="ru-RU" dirty="0" err="1" smtClean="0"/>
              <a:t>Руммельхарт</a:t>
            </a:r>
            <a:r>
              <a:rPr lang="ru-RU" dirty="0" smtClean="0"/>
              <a:t> «Обратное распространение ошибки».</a:t>
            </a:r>
          </a:p>
          <a:p>
            <a:r>
              <a:rPr lang="ru-RU" dirty="0" smtClean="0"/>
              <a:t>• 1989 г. Ян </a:t>
            </a:r>
            <a:r>
              <a:rPr lang="ru-RU" dirty="0" err="1" smtClean="0"/>
              <a:t>ЛеКун</a:t>
            </a:r>
            <a:r>
              <a:rPr lang="ru-RU" dirty="0" smtClean="0"/>
              <a:t> «</a:t>
            </a:r>
            <a:r>
              <a:rPr lang="ru-RU" dirty="0" err="1" smtClean="0"/>
              <a:t>Сверточные</a:t>
            </a:r>
            <a:r>
              <a:rPr lang="ru-RU" dirty="0" smtClean="0"/>
              <a:t> сети».</a:t>
            </a:r>
          </a:p>
          <a:p>
            <a:r>
              <a:rPr lang="ru-RU" dirty="0" smtClean="0"/>
              <a:t>• 1992 г. В.Н. </a:t>
            </a:r>
            <a:r>
              <a:rPr lang="ru-RU" dirty="0" err="1" smtClean="0"/>
              <a:t>Вапник</a:t>
            </a:r>
            <a:r>
              <a:rPr lang="ru-RU" dirty="0" smtClean="0"/>
              <a:t> «Машины опорных векторов» (SVM, </a:t>
            </a:r>
            <a:r>
              <a:rPr lang="ru-RU" dirty="0" err="1" smtClean="0"/>
              <a:t>VCdim</a:t>
            </a:r>
            <a:r>
              <a:rPr lang="ru-RU" dirty="0" smtClean="0"/>
              <a:t>).</a:t>
            </a:r>
          </a:p>
          <a:p>
            <a:r>
              <a:rPr lang="ru-RU" dirty="0" smtClean="0"/>
              <a:t>• </a:t>
            </a:r>
            <a:r>
              <a:rPr lang="ru-RU" dirty="0" smtClean="0">
                <a:solidFill>
                  <a:srgbClr val="C00000"/>
                </a:solidFill>
              </a:rPr>
              <a:t>2006 г. Дж. </a:t>
            </a:r>
            <a:r>
              <a:rPr lang="ru-RU" dirty="0" err="1" smtClean="0">
                <a:solidFill>
                  <a:srgbClr val="C00000"/>
                </a:solidFill>
              </a:rPr>
              <a:t>Хинтон</a:t>
            </a:r>
            <a:r>
              <a:rPr lang="ru-RU" dirty="0" smtClean="0">
                <a:solidFill>
                  <a:srgbClr val="C00000"/>
                </a:solidFill>
              </a:rPr>
              <a:t>, </a:t>
            </a:r>
            <a:r>
              <a:rPr lang="ru-RU" dirty="0" err="1" smtClean="0">
                <a:solidFill>
                  <a:srgbClr val="C00000"/>
                </a:solidFill>
              </a:rPr>
              <a:t>Йош</a:t>
            </a:r>
            <a:r>
              <a:rPr lang="ru-RU" dirty="0" smtClean="0">
                <a:solidFill>
                  <a:srgbClr val="C00000"/>
                </a:solidFill>
              </a:rPr>
              <a:t>. </a:t>
            </a:r>
            <a:r>
              <a:rPr lang="ru-RU" dirty="0" err="1" smtClean="0">
                <a:solidFill>
                  <a:srgbClr val="C00000"/>
                </a:solidFill>
              </a:rPr>
              <a:t>Бенджио</a:t>
            </a:r>
            <a:r>
              <a:rPr lang="ru-RU" dirty="0" smtClean="0">
                <a:solidFill>
                  <a:srgbClr val="C00000"/>
                </a:solidFill>
              </a:rPr>
              <a:t>, Ян </a:t>
            </a:r>
            <a:r>
              <a:rPr lang="ru-RU" dirty="0" err="1" smtClean="0">
                <a:solidFill>
                  <a:srgbClr val="C00000"/>
                </a:solidFill>
              </a:rPr>
              <a:t>ЛеКун</a:t>
            </a:r>
            <a:r>
              <a:rPr lang="ru-RU" dirty="0" smtClean="0">
                <a:solidFill>
                  <a:srgbClr val="C00000"/>
                </a:solidFill>
              </a:rPr>
              <a:t> «Сети глубокого обучения».</a:t>
            </a:r>
          </a:p>
          <a:p>
            <a:pPr marL="609600" indent="-609600">
              <a:lnSpc>
                <a:spcPct val="80000"/>
              </a:lnSpc>
              <a:buFont typeface="Arial" pitchFamily="34" charset="0"/>
              <a:buChar char="•"/>
            </a:pPr>
            <a:r>
              <a:rPr lang="ru-RU" dirty="0" smtClean="0">
                <a:solidFill>
                  <a:srgbClr val="C00000"/>
                </a:solidFill>
              </a:rPr>
              <a:t>Хайкин С. Нейронные сети: полный курс. – М.: «Вильямс», 2006. – 1104 с.</a:t>
            </a:r>
          </a:p>
          <a:p>
            <a:pPr marL="609600" indent="-609600">
              <a:lnSpc>
                <a:spcPct val="80000"/>
              </a:lnSpc>
              <a:buFont typeface="Arial" pitchFamily="34" charset="0"/>
              <a:buChar char="•"/>
            </a:pPr>
            <a:r>
              <a:rPr lang="ru-RU" dirty="0" err="1" smtClean="0">
                <a:solidFill>
                  <a:srgbClr val="C00000"/>
                </a:solidFill>
              </a:rPr>
              <a:t>Гудфеллоу</a:t>
            </a:r>
            <a:r>
              <a:rPr lang="ru-RU" dirty="0" smtClean="0">
                <a:solidFill>
                  <a:srgbClr val="C00000"/>
                </a:solidFill>
              </a:rPr>
              <a:t> Я., </a:t>
            </a:r>
            <a:r>
              <a:rPr lang="ru-RU" dirty="0" err="1" smtClean="0">
                <a:solidFill>
                  <a:srgbClr val="C00000"/>
                </a:solidFill>
              </a:rPr>
              <a:t>Бенджио</a:t>
            </a:r>
            <a:r>
              <a:rPr lang="ru-RU" dirty="0" smtClean="0">
                <a:solidFill>
                  <a:srgbClr val="C00000"/>
                </a:solidFill>
              </a:rPr>
              <a:t> И., </a:t>
            </a:r>
            <a:r>
              <a:rPr lang="ru-RU" dirty="0" err="1" smtClean="0">
                <a:solidFill>
                  <a:srgbClr val="C00000"/>
                </a:solidFill>
              </a:rPr>
              <a:t>Курвилль</a:t>
            </a:r>
            <a:r>
              <a:rPr lang="ru-RU" dirty="0" smtClean="0">
                <a:solidFill>
                  <a:srgbClr val="C00000"/>
                </a:solidFill>
              </a:rPr>
              <a:t> А. Глубокое обучение. – М.: ДМК Пресс, 2018. – 652 с. </a:t>
            </a:r>
          </a:p>
          <a:p>
            <a:pPr marL="609600" indent="-609600">
              <a:lnSpc>
                <a:spcPct val="80000"/>
              </a:lnSpc>
              <a:buFont typeface="Arial" pitchFamily="34" charset="0"/>
              <a:buChar char="•"/>
            </a:pPr>
            <a:r>
              <a:rPr lang="ru-RU" dirty="0" err="1" smtClean="0">
                <a:solidFill>
                  <a:srgbClr val="C00000"/>
                </a:solidFill>
              </a:rPr>
              <a:t>Николенко</a:t>
            </a:r>
            <a:r>
              <a:rPr lang="ru-RU" dirty="0" smtClean="0">
                <a:solidFill>
                  <a:srgbClr val="C00000"/>
                </a:solidFill>
              </a:rPr>
              <a:t> С., </a:t>
            </a:r>
            <a:r>
              <a:rPr lang="ru-RU" dirty="0" err="1" smtClean="0">
                <a:solidFill>
                  <a:srgbClr val="C00000"/>
                </a:solidFill>
              </a:rPr>
              <a:t>Кадурин</a:t>
            </a:r>
            <a:r>
              <a:rPr lang="ru-RU" dirty="0" smtClean="0">
                <a:solidFill>
                  <a:srgbClr val="C00000"/>
                </a:solidFill>
              </a:rPr>
              <a:t> А., Архангельская Е. Глубокое обучение. – СПб Питер,  2018. – 480 с.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14348" y="785794"/>
            <a:ext cx="81439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0070C0"/>
                </a:solidFill>
              </a:rPr>
              <a:t>LSTM </a:t>
            </a:r>
            <a:r>
              <a:rPr lang="ru-RU" sz="2400" dirty="0" smtClean="0">
                <a:solidFill>
                  <a:srgbClr val="0070C0"/>
                </a:solidFill>
              </a:rPr>
              <a:t>(</a:t>
            </a:r>
            <a:r>
              <a:rPr lang="ru-RU" sz="2400" dirty="0" err="1" smtClean="0">
                <a:solidFill>
                  <a:srgbClr val="0070C0"/>
                </a:solidFill>
              </a:rPr>
              <a:t>Long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ru-RU" sz="2400" dirty="0" err="1" smtClean="0">
                <a:solidFill>
                  <a:srgbClr val="0070C0"/>
                </a:solidFill>
              </a:rPr>
              <a:t>short-term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ru-RU" sz="2400" dirty="0" err="1" smtClean="0">
                <a:solidFill>
                  <a:srgbClr val="0070C0"/>
                </a:solidFill>
              </a:rPr>
              <a:t>memory</a:t>
            </a:r>
            <a:r>
              <a:rPr lang="ru-RU" sz="2400" dirty="0" smtClean="0">
                <a:solidFill>
                  <a:srgbClr val="0070C0"/>
                </a:solidFill>
              </a:rPr>
              <a:t>) -</a:t>
            </a:r>
            <a:r>
              <a:rPr lang="ru-RU" sz="2400" b="1" dirty="0" smtClean="0">
                <a:solidFill>
                  <a:srgbClr val="0070C0"/>
                </a:solidFill>
              </a:rPr>
              <a:t> </a:t>
            </a:r>
            <a:r>
              <a:rPr lang="ru-RU" sz="2400" dirty="0" smtClean="0">
                <a:solidFill>
                  <a:srgbClr val="0070C0"/>
                </a:solidFill>
              </a:rPr>
              <a:t>долгая краткосрочная память. Особая разновидность архитектуры рекуррентных </a:t>
            </a:r>
            <a:r>
              <a:rPr lang="ru-RU" sz="2400" b="1" dirty="0" smtClean="0">
                <a:solidFill>
                  <a:srgbClr val="0070C0"/>
                </a:solidFill>
              </a:rPr>
              <a:t>нейронных</a:t>
            </a:r>
            <a:r>
              <a:rPr lang="ru-RU" sz="2400" dirty="0" smtClean="0">
                <a:solidFill>
                  <a:srgbClr val="0070C0"/>
                </a:solidFill>
              </a:rPr>
              <a:t> </a:t>
            </a:r>
            <a:r>
              <a:rPr lang="ru-RU" sz="2400" b="1" dirty="0" smtClean="0">
                <a:solidFill>
                  <a:srgbClr val="0070C0"/>
                </a:solidFill>
              </a:rPr>
              <a:t>сетей</a:t>
            </a:r>
            <a:r>
              <a:rPr lang="ru-RU" sz="2400" dirty="0" smtClean="0">
                <a:solidFill>
                  <a:srgbClr val="0070C0"/>
                </a:solidFill>
              </a:rPr>
              <a:t>, способная к обучению долговременным зависимостям. 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85786" y="2571744"/>
            <a:ext cx="80724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</a:rPr>
              <a:t>CNN </a:t>
            </a:r>
            <a:r>
              <a:rPr lang="ru-RU" sz="2400" dirty="0" smtClean="0">
                <a:solidFill>
                  <a:srgbClr val="002060"/>
                </a:solidFill>
              </a:rPr>
              <a:t>или </a:t>
            </a:r>
            <a:r>
              <a:rPr lang="ru-RU" sz="2400" dirty="0" err="1" smtClean="0">
                <a:solidFill>
                  <a:srgbClr val="002060"/>
                </a:solidFill>
              </a:rPr>
              <a:t>ConvNet</a:t>
            </a:r>
            <a:r>
              <a:rPr lang="ru-RU" sz="2400" dirty="0" smtClean="0">
                <a:solidFill>
                  <a:srgbClr val="002060"/>
                </a:solidFill>
              </a:rPr>
              <a:t>  - </a:t>
            </a:r>
            <a:r>
              <a:rPr lang="ru-RU" sz="2400" dirty="0" err="1" smtClean="0">
                <a:solidFill>
                  <a:srgbClr val="002060"/>
                </a:solidFill>
              </a:rPr>
              <a:t>сверточная</a:t>
            </a:r>
            <a:r>
              <a:rPr lang="ru-RU" sz="2400" dirty="0" smtClean="0">
                <a:solidFill>
                  <a:srgbClr val="002060"/>
                </a:solidFill>
              </a:rPr>
              <a:t> нейронная сеть наиболее популярны в глубоком обучении. Основная идея - модель учится выполнять задачи классификации  непосредственно на изображении, видео, тексте или звуке.</a:t>
            </a:r>
            <a:endParaRPr lang="ru-RU" sz="2400" dirty="0">
              <a:solidFill>
                <a:srgbClr val="00206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57224" y="4489842"/>
            <a:ext cx="77153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accent6">
                    <a:lumMod val="50000"/>
                  </a:schemeClr>
                </a:solidFill>
              </a:rPr>
              <a:t>GPU</a:t>
            </a:r>
            <a:r>
              <a:rPr lang="ru-RU" sz="2400" dirty="0" smtClean="0">
                <a:solidFill>
                  <a:schemeClr val="accent6">
                    <a:lumMod val="50000"/>
                  </a:schemeClr>
                </a:solidFill>
              </a:rPr>
              <a:t>  нейронная сеть с использованием графического процессора. Эффективна за счет особенностей архитектуры GPU, которая быстрее справляется с расчетами.</a:t>
            </a:r>
            <a:endParaRPr lang="ru-RU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85786" y="142853"/>
            <a:ext cx="7715304" cy="642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Современная революция на базе сетей глубокого обучения </a:t>
            </a:r>
          </a:p>
          <a:p>
            <a:pPr algn="ctr"/>
            <a:r>
              <a:rPr lang="ru-RU" dirty="0" smtClean="0">
                <a:solidFill>
                  <a:srgbClr val="C00000"/>
                </a:solidFill>
              </a:rPr>
              <a:t>(LSTM, CNN и GPU).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428604"/>
            <a:ext cx="821537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6">
                    <a:lumMod val="50000"/>
                  </a:schemeClr>
                </a:solidFill>
              </a:rPr>
              <a:t>Особенности глубоких нейронных сетей:</a:t>
            </a:r>
          </a:p>
          <a:p>
            <a:endParaRPr lang="ru-RU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ru-RU" sz="2800" dirty="0" smtClean="0"/>
              <a:t> </a:t>
            </a:r>
            <a:r>
              <a:rPr lang="ru-RU" sz="2800" dirty="0" smtClean="0">
                <a:solidFill>
                  <a:schemeClr val="tx2">
                    <a:lumMod val="75000"/>
                  </a:schemeClr>
                </a:solidFill>
              </a:rPr>
              <a:t>Для работы с нейронными сетями нужно кодировать данные на входе и декодировать на выходе.</a:t>
            </a:r>
          </a:p>
          <a:p>
            <a:pPr>
              <a:buFont typeface="Wingdings" pitchFamily="2" charset="2"/>
              <a:buChar char="§"/>
            </a:pPr>
            <a:endParaRPr lang="ru-RU" sz="2800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ru-RU" sz="2800" dirty="0" smtClean="0">
                <a:solidFill>
                  <a:schemeClr val="tx2">
                    <a:lumMod val="75000"/>
                  </a:schemeClr>
                </a:solidFill>
              </a:rPr>
              <a:t> Кодировка позволяет абстрагироваться от данных.</a:t>
            </a:r>
          </a:p>
          <a:p>
            <a:pPr>
              <a:buFont typeface="Wingdings" pitchFamily="2" charset="2"/>
              <a:buChar char="§"/>
            </a:pPr>
            <a:endParaRPr lang="ru-RU" sz="2800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ru-RU" sz="2800" dirty="0" smtClean="0">
                <a:solidFill>
                  <a:schemeClr val="tx2">
                    <a:lumMod val="75000"/>
                  </a:schemeClr>
                </a:solidFill>
              </a:rPr>
              <a:t> Меняя входные данные можно генерировать нейронные сети для разных доменных областей.</a:t>
            </a:r>
            <a:endParaRPr lang="ru-RU" sz="2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428604"/>
            <a:ext cx="850112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/>
              <a:t>Области применения ИНС</a:t>
            </a:r>
          </a:p>
          <a:p>
            <a:endParaRPr lang="ru-RU" sz="1200" dirty="0" smtClean="0"/>
          </a:p>
          <a:p>
            <a:r>
              <a:rPr lang="ru-RU" sz="2000" dirty="0" smtClean="0"/>
              <a:t>1. Аппроксимация функций многих переменных (з</a:t>
            </a:r>
            <a:r>
              <a:rPr lang="ru-RU" sz="2000" dirty="0" smtClean="0">
                <a:solidFill>
                  <a:srgbClr val="002060"/>
                </a:solidFill>
              </a:rPr>
              <a:t>адача состоит в нахождении оценки неизвестной функции, используется при моделировании). </a:t>
            </a:r>
            <a:endParaRPr lang="ru-RU" sz="2000" dirty="0" smtClean="0"/>
          </a:p>
          <a:p>
            <a:r>
              <a:rPr lang="ru-RU" sz="2000" dirty="0" smtClean="0"/>
              <a:t>2. Классификация и распознавание образов </a:t>
            </a:r>
            <a:r>
              <a:rPr lang="ru-RU" sz="2000" dirty="0" smtClean="0">
                <a:solidFill>
                  <a:srgbClr val="002060"/>
                </a:solidFill>
              </a:rPr>
              <a:t>(распознавание букв, речи, электрокардиограммы, клетки крови);</a:t>
            </a:r>
            <a:endParaRPr lang="ru-RU" sz="2000" dirty="0" smtClean="0"/>
          </a:p>
          <a:p>
            <a:pPr lvl="0"/>
            <a:r>
              <a:rPr lang="ru-RU" sz="2000" dirty="0" smtClean="0"/>
              <a:t>3. Прогнозирование (</a:t>
            </a:r>
            <a:r>
              <a:rPr lang="ru-RU" sz="2000" dirty="0" smtClean="0">
                <a:solidFill>
                  <a:srgbClr val="002060"/>
                </a:solidFill>
              </a:rPr>
              <a:t>предсказание значений в некоторый будущий момент).</a:t>
            </a:r>
          </a:p>
          <a:p>
            <a:r>
              <a:rPr lang="ru-RU" sz="2000" dirty="0" smtClean="0"/>
              <a:t>.4. Управление сложными динамическими системами.</a:t>
            </a:r>
          </a:p>
          <a:p>
            <a:r>
              <a:rPr lang="ru-RU" sz="2000" dirty="0" smtClean="0"/>
              <a:t>5. Память адресуемая по содержанию(ассоциативная память)</a:t>
            </a:r>
            <a:r>
              <a:rPr lang="ru-RU" sz="2000" dirty="0" smtClean="0">
                <a:solidFill>
                  <a:srgbClr val="002060"/>
                </a:solidFill>
              </a:rPr>
              <a:t>(для создания </a:t>
            </a:r>
            <a:r>
              <a:rPr lang="ru-RU" sz="2000" dirty="0" err="1" smtClean="0">
                <a:solidFill>
                  <a:srgbClr val="002060"/>
                </a:solidFill>
              </a:rPr>
              <a:t>мультимедийных</a:t>
            </a:r>
            <a:r>
              <a:rPr lang="ru-RU" sz="2000" dirty="0" smtClean="0">
                <a:solidFill>
                  <a:srgbClr val="002060"/>
                </a:solidFill>
              </a:rPr>
              <a:t> баз данных).</a:t>
            </a:r>
            <a:endParaRPr lang="ru-RU" sz="2000" dirty="0" smtClean="0"/>
          </a:p>
          <a:p>
            <a:r>
              <a:rPr lang="ru-RU" sz="2000" dirty="0" smtClean="0"/>
              <a:t>6. Автоматический перевод.</a:t>
            </a:r>
          </a:p>
          <a:p>
            <a:r>
              <a:rPr lang="ru-RU" sz="2000" dirty="0" smtClean="0"/>
              <a:t>7. Контекстное понимание смысла.</a:t>
            </a:r>
          </a:p>
          <a:p>
            <a:r>
              <a:rPr lang="ru-RU" sz="2000" dirty="0" smtClean="0"/>
              <a:t>8. Кластеризация или категоризация </a:t>
            </a:r>
            <a:r>
              <a:rPr lang="ru-RU" sz="2000" dirty="0" smtClean="0">
                <a:solidFill>
                  <a:srgbClr val="002060"/>
                </a:solidFill>
              </a:rPr>
              <a:t>(т.е. классификация образов «без учителя». Алгоритм основан на подобии образов и размещает близкие образы в один кластер. Использовался для сжатия данных, извлечения знаний);</a:t>
            </a:r>
          </a:p>
          <a:p>
            <a:endParaRPr lang="ru-RU" sz="1200" dirty="0" smtClean="0"/>
          </a:p>
          <a:p>
            <a:endParaRPr lang="ru-RU" sz="1200" dirty="0" smtClean="0"/>
          </a:p>
          <a:p>
            <a:endParaRPr lang="ru-RU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357166"/>
            <a:ext cx="7772400" cy="1143007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Искусственный нейрон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00174"/>
            <a:ext cx="7030760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4291"/>
            <a:ext cx="7772400" cy="857255"/>
          </a:xfrm>
        </p:spPr>
        <p:txBody>
          <a:bodyPr/>
          <a:lstStyle/>
          <a:p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Биологический нейрон</a:t>
            </a:r>
            <a:endParaRPr lang="ru-R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285860"/>
            <a:ext cx="7362790" cy="4352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714356"/>
            <a:ext cx="8882084" cy="541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23473"/>
            <a:ext cx="7772400" cy="857255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Классы нейронов</a:t>
            </a:r>
            <a:endParaRPr lang="ru-R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609FE00C-9E31-46B5-BE6E-07C8F5DBFEA8}"/>
              </a:ext>
            </a:extLst>
          </p:cNvPr>
          <p:cNvSpPr/>
          <p:nvPr/>
        </p:nvSpPr>
        <p:spPr>
          <a:xfrm>
            <a:off x="539552" y="836712"/>
            <a:ext cx="8352928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tx2">
                    <a:lumMod val="75000"/>
                  </a:schemeClr>
                </a:solidFill>
              </a:rPr>
              <a:t>	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Сенсорные (или рецепторные) – генерируют сигналы в ответ на энергию, подведенную к сенсорным датчикам (фоторецепторы или тельца, чувствительные к давлению -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</a:rPr>
              <a:t>механорецепторы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).  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Они трансформируют сигналы, поступающие на органы чувств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ru-RU" sz="2400" dirty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	Моторные (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</a:rPr>
              <a:t>эффекторные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) – передают сигналы к мышцам или железам, управляют их активностью</a:t>
            </a:r>
            <a:r>
              <a:rPr lang="ru-RU" sz="2400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ru-RU" sz="2400" dirty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	Связующие (ассоциативные) – образуют сеть, которая соединяет сенсорные и моторные нейроны друг с другом. </a:t>
            </a:r>
            <a:r>
              <a:rPr lang="ru-RU" sz="2400" dirty="0">
                <a:solidFill>
                  <a:srgbClr val="0070C0"/>
                </a:solidFill>
              </a:rPr>
              <a:t>Считается, что мозг и центральная нервная система в основном состоит из таких нейронов.  </a:t>
            </a:r>
          </a:p>
          <a:p>
            <a:r>
              <a:rPr lang="ru-RU" dirty="0"/>
              <a:t>  </a:t>
            </a:r>
          </a:p>
        </p:txBody>
      </p:sp>
    </p:spTree>
    <p:extLst>
      <p:ext uri="{BB962C8B-B14F-4D97-AF65-F5344CB8AC3E}">
        <p14:creationId xmlns="" xmlns:p14="http://schemas.microsoft.com/office/powerpoint/2010/main" val="3760739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57167"/>
            <a:ext cx="7772400" cy="785817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Модель нейрона </a:t>
            </a:r>
            <a:r>
              <a:rPr lang="ru-RU" sz="3600" dirty="0" err="1" smtClean="0"/>
              <a:t>МакКаллока-Питтса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28662" y="4357694"/>
            <a:ext cx="7572428" cy="1500198"/>
          </a:xfrm>
        </p:spPr>
        <p:txBody>
          <a:bodyPr>
            <a:normAutofit/>
          </a:bodyPr>
          <a:lstStyle/>
          <a:p>
            <a:pPr algn="l"/>
            <a:r>
              <a:rPr lang="ru-RU" sz="2400" dirty="0" smtClean="0">
                <a:solidFill>
                  <a:srgbClr val="0070C0"/>
                </a:solidFill>
              </a:rPr>
              <a:t>Модель </a:t>
            </a:r>
            <a:r>
              <a:rPr lang="ru-RU" sz="2400" dirty="0" err="1" smtClean="0">
                <a:solidFill>
                  <a:srgbClr val="0070C0"/>
                </a:solidFill>
              </a:rPr>
              <a:t>МакКаллока-Питтса</a:t>
            </a:r>
            <a:r>
              <a:rPr lang="ru-RU" sz="2400" dirty="0" smtClean="0">
                <a:solidFill>
                  <a:srgbClr val="0070C0"/>
                </a:solidFill>
              </a:rPr>
              <a:t> эквивалентна пороговому линейному классификатору.</a:t>
            </a:r>
          </a:p>
          <a:p>
            <a:pPr algn="l"/>
            <a:r>
              <a:rPr lang="ru-RU" sz="2400" dirty="0" smtClean="0">
                <a:solidFill>
                  <a:srgbClr val="C00000"/>
                </a:solidFill>
              </a:rPr>
              <a:t>Модель ИНС не предполагала процесса обучения.</a:t>
            </a:r>
            <a:endParaRPr lang="ru-RU" sz="2400" dirty="0">
              <a:solidFill>
                <a:srgbClr val="C0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0966" y="1076325"/>
            <a:ext cx="5615678" cy="3175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428604"/>
            <a:ext cx="7485781" cy="3700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1214414" y="5204222"/>
            <a:ext cx="671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Введены функции активации (см. ниже примеры).  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71546"/>
            <a:ext cx="8630472" cy="499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1214414" y="357166"/>
            <a:ext cx="6429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Активационные функции</a:t>
            </a:r>
            <a:endParaRPr lang="ru-RU" sz="28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4291"/>
            <a:ext cx="7815290" cy="785817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0070C0"/>
                </a:solidFill>
              </a:rPr>
              <a:t>Двухслойная сеть обратного распространения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643050"/>
            <a:ext cx="7788204" cy="445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64355" y="332656"/>
            <a:ext cx="7815290" cy="785817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70C0"/>
                </a:solidFill>
              </a:rPr>
              <a:t>Обобщенный алгоритм сети обратного распространения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E9C9DB10-2E63-4780-9C17-118B4F022A65}"/>
              </a:ext>
            </a:extLst>
          </p:cNvPr>
          <p:cNvSpPr/>
          <p:nvPr/>
        </p:nvSpPr>
        <p:spPr>
          <a:xfrm>
            <a:off x="467544" y="1268760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	</a:t>
            </a:r>
            <a:r>
              <a:rPr lang="ru-RU" sz="2800" dirty="0">
                <a:solidFill>
                  <a:schemeClr val="accent5">
                    <a:lumMod val="50000"/>
                  </a:schemeClr>
                </a:solidFill>
              </a:rPr>
              <a:t>Выбор очередной обучающей пары из обучающего множества  и подача входного вектора на вход сети.</a:t>
            </a:r>
          </a:p>
          <a:p>
            <a:r>
              <a:rPr lang="ru-RU" sz="2800" dirty="0">
                <a:solidFill>
                  <a:schemeClr val="accent5">
                    <a:lumMod val="50000"/>
                  </a:schemeClr>
                </a:solidFill>
              </a:rPr>
              <a:t>-	Вычисление выхода сети.</a:t>
            </a:r>
          </a:p>
          <a:p>
            <a:r>
              <a:rPr lang="ru-RU" sz="2800" dirty="0">
                <a:solidFill>
                  <a:schemeClr val="accent5">
                    <a:lumMod val="50000"/>
                  </a:schemeClr>
                </a:solidFill>
              </a:rPr>
              <a:t>-	Вычисление разности между выходом сети и требуемым выходом (целевым вектором обучающей пары).</a:t>
            </a:r>
          </a:p>
          <a:p>
            <a:r>
              <a:rPr lang="ru-RU" sz="2800" dirty="0">
                <a:solidFill>
                  <a:schemeClr val="accent5">
                    <a:lumMod val="50000"/>
                  </a:schemeClr>
                </a:solidFill>
              </a:rPr>
              <a:t>-	Коррекция весов сети так, чтобы минимизировать ошибку.</a:t>
            </a:r>
          </a:p>
          <a:p>
            <a:r>
              <a:rPr lang="ru-RU" sz="2800" dirty="0">
                <a:solidFill>
                  <a:schemeClr val="accent5">
                    <a:lumMod val="50000"/>
                  </a:schemeClr>
                </a:solidFill>
              </a:rPr>
              <a:t>-	Повторение шагов 1-4 для каждого вектора обучающего множества пока ошибка на всем множестве не станет приемлемой.</a:t>
            </a:r>
          </a:p>
        </p:txBody>
      </p:sp>
    </p:spTree>
    <p:extLst>
      <p:ext uri="{BB962C8B-B14F-4D97-AF65-F5344CB8AC3E}">
        <p14:creationId xmlns="" xmlns:p14="http://schemas.microsoft.com/office/powerpoint/2010/main" val="3267952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885825"/>
            <a:ext cx="9067800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85729"/>
            <a:ext cx="7772400" cy="1000131"/>
          </a:xfrm>
        </p:spPr>
        <p:txBody>
          <a:bodyPr/>
          <a:lstStyle/>
          <a:p>
            <a:r>
              <a:rPr lang="ru-RU" b="1" i="1" dirty="0">
                <a:solidFill>
                  <a:srgbClr val="0070C0"/>
                </a:solidFill>
              </a:rPr>
              <a:t>Направления обучения</a:t>
            </a:r>
            <a:endParaRPr lang="ru-RU" i="1" dirty="0">
              <a:solidFill>
                <a:srgbClr val="0070C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1472" y="1357298"/>
            <a:ext cx="7929618" cy="2143140"/>
          </a:xfrm>
        </p:spPr>
        <p:txBody>
          <a:bodyPr>
            <a:normAutofit fontScale="55000" lnSpcReduction="20000"/>
          </a:bodyPr>
          <a:lstStyle/>
          <a:p>
            <a:pPr lvl="0" algn="l" hangingPunct="0">
              <a:buFont typeface="Wingdings" pitchFamily="2" charset="2"/>
              <a:buChar char="ü"/>
            </a:pPr>
            <a:r>
              <a:rPr lang="ru-RU" sz="4000" dirty="0">
                <a:solidFill>
                  <a:srgbClr val="7030A0"/>
                </a:solidFill>
              </a:rPr>
              <a:t>С учителем </a:t>
            </a:r>
            <a:r>
              <a:rPr lang="ru-RU" sz="2800" dirty="0">
                <a:solidFill>
                  <a:schemeClr val="bg2">
                    <a:lumMod val="25000"/>
                  </a:schemeClr>
                </a:solidFill>
              </a:rPr>
              <a:t>(это когда на каждый входной пример есть правильный ответ-выход и нужно подстраивать веса)</a:t>
            </a:r>
          </a:p>
          <a:p>
            <a:pPr lvl="0" algn="l" hangingPunct="0"/>
            <a:endParaRPr lang="ru-RU" sz="2800" dirty="0">
              <a:solidFill>
                <a:schemeClr val="bg2">
                  <a:lumMod val="25000"/>
                </a:schemeClr>
              </a:solidFill>
            </a:endParaRPr>
          </a:p>
          <a:p>
            <a:pPr lvl="0" algn="l" hangingPunct="0">
              <a:buFont typeface="Wingdings" pitchFamily="2" charset="2"/>
              <a:buChar char="ü"/>
            </a:pPr>
            <a:r>
              <a:rPr lang="ru-RU" sz="4000" dirty="0">
                <a:solidFill>
                  <a:srgbClr val="7030A0"/>
                </a:solidFill>
              </a:rPr>
              <a:t>  Без учителя или самообучение  </a:t>
            </a:r>
            <a:r>
              <a:rPr lang="ru-RU" sz="2800" dirty="0">
                <a:solidFill>
                  <a:schemeClr val="bg2">
                    <a:lumMod val="25000"/>
                  </a:schemeClr>
                </a:solidFill>
              </a:rPr>
              <a:t>(не требует знания правильных ответов на каждый пример обучающей выборки)</a:t>
            </a:r>
          </a:p>
          <a:p>
            <a:pPr lvl="0" algn="l" hangingPunct="0">
              <a:buFont typeface="Wingdings" pitchFamily="2" charset="2"/>
              <a:buChar char="ü"/>
            </a:pPr>
            <a:endParaRPr lang="ru-RU" sz="4000" dirty="0">
              <a:solidFill>
                <a:srgbClr val="7030A0"/>
              </a:solidFill>
            </a:endParaRPr>
          </a:p>
          <a:p>
            <a:pPr lvl="0" algn="l" hangingPunct="0">
              <a:buFont typeface="Wingdings" pitchFamily="2" charset="2"/>
              <a:buChar char="ü"/>
            </a:pPr>
            <a:r>
              <a:rPr lang="ru-RU" sz="4000" dirty="0">
                <a:solidFill>
                  <a:srgbClr val="7030A0"/>
                </a:solidFill>
              </a:rPr>
              <a:t> Смешанная </a:t>
            </a:r>
            <a:r>
              <a:rPr lang="ru-RU" sz="2800" dirty="0">
                <a:solidFill>
                  <a:schemeClr val="bg2">
                    <a:lumMod val="25000"/>
                  </a:schemeClr>
                </a:solidFill>
              </a:rPr>
              <a:t>(часть весов определяется с учителем, а остальная с помощью самообучения)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85786" y="3857628"/>
            <a:ext cx="76438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80000"/>
              </a:lnSpc>
              <a:buFontTx/>
              <a:buAutoNum type="arabicPeriod"/>
            </a:pPr>
            <a:r>
              <a:rPr lang="ru-RU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обучения с учителем.</a:t>
            </a:r>
          </a:p>
          <a:p>
            <a:pPr>
              <a:lnSpc>
                <a:spcPct val="80000"/>
              </a:lnSpc>
            </a:pPr>
            <a:r>
              <a:rPr lang="ru-RU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опыта предъявляется набор данных, содержащий признаки, в котором каждый пример снабжен </a:t>
            </a:r>
            <a:r>
              <a:rPr lang="ru-RU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меткой </a:t>
            </a:r>
            <a:r>
              <a:rPr lang="ru-RU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ru-RU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целевым классом</a:t>
            </a:r>
            <a:r>
              <a:rPr lang="ru-RU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ru-RU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Алгоритм обучения без учителя.</a:t>
            </a:r>
          </a:p>
          <a:p>
            <a:pPr>
              <a:lnSpc>
                <a:spcPct val="80000"/>
              </a:lnSpc>
            </a:pPr>
            <a:r>
              <a:rPr lang="ru-RU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опыта предъявляется набор данных, содержащий много </a:t>
            </a:r>
            <a:r>
              <a:rPr lang="ru-RU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признаков,</a:t>
            </a:r>
            <a:r>
              <a:rPr lang="ru-RU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 алгоритм должен выявить полезные структурные свойства  этого набора.</a:t>
            </a:r>
          </a:p>
          <a:p>
            <a:pPr>
              <a:lnSpc>
                <a:spcPct val="80000"/>
              </a:lnSpc>
            </a:pPr>
            <a:r>
              <a:rPr lang="ru-RU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Алгоритм обучения с подкреплением.</a:t>
            </a:r>
          </a:p>
          <a:p>
            <a:pPr>
              <a:lnSpc>
                <a:spcPct val="80000"/>
              </a:lnSpc>
            </a:pPr>
            <a:r>
              <a:rPr lang="ru-RU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результат взаимодействия со средой, так что между системой обучения и её опытом образуется </a:t>
            </a:r>
            <a:r>
              <a:rPr lang="ru-RU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связь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00100" y="214290"/>
            <a:ext cx="6572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chemeClr val="accent4">
                    <a:lumMod val="75000"/>
                  </a:schemeClr>
                </a:solidFill>
              </a:rPr>
              <a:t>Обучение с учителем</a:t>
            </a:r>
            <a:endParaRPr lang="ru-RU" sz="32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85794"/>
            <a:ext cx="8248650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14348" y="214290"/>
            <a:ext cx="785818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</a:pPr>
            <a:r>
              <a:rPr lang="ru-RU" altLang="ru-RU" sz="2800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Выделяют 2 основных подхода к реализации градиентного спуска:</a:t>
            </a:r>
          </a:p>
          <a:p>
            <a:pPr lvl="0">
              <a:spcBef>
                <a:spcPct val="0"/>
              </a:spcBef>
            </a:pPr>
            <a:endParaRPr lang="ru-RU" altLang="ru-RU" sz="28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lvl="0">
              <a:spcBef>
                <a:spcPct val="0"/>
              </a:spcBef>
              <a:buFont typeface="Wingdings" pitchFamily="2" charset="2"/>
              <a:buChar char="§"/>
            </a:pPr>
            <a:r>
              <a:rPr lang="ru-RU" altLang="ru-RU" sz="2400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Пакетный (</a:t>
            </a:r>
            <a:r>
              <a:rPr lang="ru-RU" altLang="ru-RU" sz="2400" i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</a:t>
            </a:r>
            <a:r>
              <a:rPr lang="ru-RU" altLang="ru-RU" sz="2400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altLang="ru-RU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когда на каждой итерации </a:t>
            </a:r>
            <a:r>
              <a:rPr lang="ru-RU" alt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обучающая выборка просматривается целиком</a:t>
            </a:r>
            <a:r>
              <a:rPr lang="ru-RU" altLang="ru-RU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и только после этого изменяется. Это требует больших вычислительных затрат.</a:t>
            </a:r>
          </a:p>
          <a:p>
            <a:pPr lvl="0">
              <a:spcBef>
                <a:spcPct val="0"/>
              </a:spcBef>
            </a:pPr>
            <a:endParaRPr lang="ru-RU" altLang="ru-RU" sz="2800" i="1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ct val="0"/>
              </a:spcBef>
              <a:buFont typeface="Wingdings" pitchFamily="2" charset="2"/>
              <a:buChar char="§"/>
            </a:pPr>
            <a:r>
              <a:rPr lang="ru-RU" altLang="ru-RU" sz="2400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Стохастический (</a:t>
            </a:r>
            <a:r>
              <a:rPr lang="ru-RU" altLang="ru-RU" sz="2400" i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stochastic</a:t>
            </a:r>
            <a:r>
              <a:rPr lang="ru-RU" altLang="ru-RU" sz="2400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altLang="ru-RU" sz="2400" i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r>
              <a:rPr lang="ru-RU" altLang="ru-RU" sz="2400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altLang="ru-RU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когда на каждой итерации алгоритма из обучающей выборки каким-то (случайным) образом </a:t>
            </a:r>
            <a:r>
              <a:rPr lang="ru-RU" alt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выбирается только один или несколько объектов</a:t>
            </a:r>
            <a:r>
              <a:rPr lang="ru-RU" altLang="ru-RU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Таким образом вектор </a:t>
            </a:r>
            <a:r>
              <a:rPr lang="en-US" alt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ru-RU" alt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настраивается на каждый вновь выбираемый объект или серию объектов</a:t>
            </a:r>
            <a:r>
              <a:rPr lang="ru-RU" altLang="ru-RU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altLang="ru-RU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57167"/>
            <a:ext cx="7772400" cy="785817"/>
          </a:xfrm>
        </p:spPr>
        <p:txBody>
          <a:bodyPr/>
          <a:lstStyle/>
          <a:p>
            <a:r>
              <a:rPr lang="ru-RU" dirty="0">
                <a:solidFill>
                  <a:srgbClr val="7030A0"/>
                </a:solidFill>
              </a:rPr>
              <a:t>Фундаментальные свойства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1472" y="1714488"/>
            <a:ext cx="8001056" cy="3643338"/>
          </a:xfrm>
        </p:spPr>
        <p:txBody>
          <a:bodyPr>
            <a:normAutofit fontScale="25000" lnSpcReduction="20000"/>
          </a:bodyPr>
          <a:lstStyle/>
          <a:p>
            <a:pPr lvl="0" algn="l" hangingPunct="0">
              <a:buFont typeface="Wingdings" pitchFamily="2" charset="2"/>
              <a:buChar char="Ø"/>
            </a:pPr>
            <a:r>
              <a:rPr lang="ru-RU" sz="8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Емкость </a:t>
            </a:r>
            <a:r>
              <a:rPr lang="ru-RU" sz="8000" dirty="0">
                <a:latin typeface="Times New Roman" pitchFamily="18" charset="0"/>
                <a:cs typeface="Times New Roman" pitchFamily="18" charset="0"/>
              </a:rPr>
              <a:t>(это сколько образцов может запомнить сеть, и какие функции и границы принятия решений могут быть на ней сформированы)</a:t>
            </a:r>
            <a:endParaRPr lang="ru-RU" sz="8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 hangingPunct="0">
              <a:buFont typeface="Wingdings" pitchFamily="2" charset="2"/>
              <a:buChar char="Ø"/>
            </a:pPr>
            <a:endParaRPr lang="ru-RU" sz="8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 hangingPunct="0">
              <a:buFont typeface="Wingdings" pitchFamily="2" charset="2"/>
              <a:buChar char="Ø"/>
            </a:pPr>
            <a:r>
              <a:rPr lang="ru-RU" sz="8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Сложность </a:t>
            </a:r>
            <a:r>
              <a:rPr lang="ru-RU" sz="8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образцов </a:t>
            </a:r>
            <a:r>
              <a:rPr lang="ru-RU" sz="8000" dirty="0">
                <a:latin typeface="Times New Roman" pitchFamily="18" charset="0"/>
                <a:cs typeface="Times New Roman" pitchFamily="18" charset="0"/>
              </a:rPr>
              <a:t>(определяет число обучающих примеров, необходимых для достижения способности сети к обобщению)</a:t>
            </a:r>
            <a:endParaRPr lang="ru-RU" sz="8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 hangingPunct="0">
              <a:buFont typeface="Wingdings" pitchFamily="2" charset="2"/>
              <a:buChar char="Ø"/>
            </a:pPr>
            <a:endParaRPr lang="ru-RU" sz="8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 hangingPunct="0">
              <a:buFont typeface="Wingdings" pitchFamily="2" charset="2"/>
              <a:buChar char="Ø"/>
            </a:pPr>
            <a:r>
              <a:rPr lang="ru-RU" sz="8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Вычислительная </a:t>
            </a:r>
            <a:r>
              <a:rPr lang="ru-RU" sz="8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сложность </a:t>
            </a:r>
            <a:r>
              <a:rPr lang="ru-RU" sz="800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(связана </a:t>
            </a:r>
            <a:r>
              <a:rPr lang="ru-RU" sz="800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с количеством операций, которые необходимо выполнить для обучения или использования </a:t>
            </a:r>
            <a:r>
              <a:rPr lang="ru-RU" sz="800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сети, т.е. процессорное время и память)</a:t>
            </a:r>
          </a:p>
          <a:p>
            <a:pPr lvl="0" algn="l" hangingPunct="0">
              <a:buFont typeface="Wingdings" pitchFamily="2" charset="2"/>
              <a:buChar char="Ø"/>
            </a:pPr>
            <a:endParaRPr lang="ru-RU" sz="8000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 hangingPunct="0">
              <a:buFont typeface="Wingdings" pitchFamily="2" charset="2"/>
              <a:buChar char="Ø"/>
            </a:pPr>
            <a:r>
              <a:rPr lang="ru-RU" sz="800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8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Эффективность обобщения </a:t>
            </a:r>
            <a:r>
              <a:rPr lang="ru-RU" sz="8000" dirty="0" smtClean="0">
                <a:latin typeface="Times New Roman" pitchFamily="18" charset="0"/>
                <a:cs typeface="Times New Roman" pitchFamily="18" charset="0"/>
              </a:rPr>
              <a:t>(отражает способность </a:t>
            </a:r>
            <a:r>
              <a:rPr lang="ru-RU" sz="8000" dirty="0" smtClean="0">
                <a:latin typeface="Times New Roman" pitchFamily="18" charset="0"/>
                <a:cs typeface="Times New Roman" pitchFamily="18" charset="0"/>
              </a:rPr>
              <a:t>обобщать свои знания </a:t>
            </a:r>
            <a:r>
              <a:rPr lang="ru-RU" sz="8000" dirty="0" smtClean="0">
                <a:latin typeface="Times New Roman" pitchFamily="18" charset="0"/>
                <a:cs typeface="Times New Roman" pitchFamily="18" charset="0"/>
              </a:rPr>
              <a:t>при поступлении новых данных, </a:t>
            </a:r>
            <a:r>
              <a:rPr lang="ru-RU" sz="8000" dirty="0" smtClean="0">
                <a:latin typeface="Times New Roman" pitchFamily="18" charset="0"/>
                <a:cs typeface="Times New Roman" pitchFamily="18" charset="0"/>
              </a:rPr>
              <a:t>которые не были использованы в процессе </a:t>
            </a:r>
            <a:r>
              <a:rPr lang="ru-RU" sz="8000" dirty="0" smtClean="0">
                <a:latin typeface="Times New Roman" pitchFamily="18" charset="0"/>
                <a:cs typeface="Times New Roman" pitchFamily="18" charset="0"/>
              </a:rPr>
              <a:t>обучения)</a:t>
            </a:r>
            <a:endParaRPr lang="ru-RU" sz="8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4291"/>
            <a:ext cx="7772400" cy="47840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</a:rPr>
              <a:t>Типы правил обучения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836712"/>
            <a:ext cx="8496944" cy="5544616"/>
          </a:xfrm>
        </p:spPr>
        <p:txBody>
          <a:bodyPr>
            <a:normAutofit fontScale="85000" lnSpcReduction="20000"/>
          </a:bodyPr>
          <a:lstStyle/>
          <a:p>
            <a:pPr lvl="0" algn="l" hangingPunct="0">
              <a:buFont typeface="Wingdings" pitchFamily="2" charset="2"/>
              <a:buChar char="Ø"/>
            </a:pPr>
            <a:r>
              <a:rPr lang="ru-RU" dirty="0">
                <a:solidFill>
                  <a:srgbClr val="7030A0"/>
                </a:solidFill>
              </a:rPr>
              <a:t>Коррекция по ошибке (или с учителем)</a:t>
            </a:r>
          </a:p>
          <a:p>
            <a:pPr lvl="0" algn="l" hangingPunct="0">
              <a:buFont typeface="Wingdings" pitchFamily="2" charset="2"/>
              <a:buChar char="Ø"/>
            </a:pPr>
            <a:r>
              <a:rPr lang="ru-RU" dirty="0">
                <a:solidFill>
                  <a:srgbClr val="7030A0"/>
                </a:solidFill>
              </a:rPr>
              <a:t>Обучение Больцмана </a:t>
            </a:r>
            <a:r>
              <a:rPr lang="ru-RU" sz="2800" dirty="0">
                <a:solidFill>
                  <a:schemeClr val="bg2">
                    <a:lumMod val="25000"/>
                  </a:schemeClr>
                </a:solidFill>
              </a:rPr>
              <a:t>(Цель - такая настройка весовых коэффициентов, при которой состояния нейронов удовлетворяют желаемому распределению вероятностей).</a:t>
            </a:r>
          </a:p>
          <a:p>
            <a:pPr algn="l" hangingPunct="0">
              <a:buFont typeface="Wingdings" pitchFamily="2" charset="2"/>
              <a:buChar char="Ø"/>
            </a:pPr>
            <a:r>
              <a:rPr lang="ru-RU" dirty="0">
                <a:solidFill>
                  <a:srgbClr val="7030A0"/>
                </a:solidFill>
              </a:rPr>
              <a:t>Правило </a:t>
            </a:r>
            <a:r>
              <a:rPr lang="ru-RU" dirty="0" err="1">
                <a:solidFill>
                  <a:srgbClr val="7030A0"/>
                </a:solidFill>
              </a:rPr>
              <a:t>Хебба</a:t>
            </a:r>
            <a:r>
              <a:rPr lang="ru-RU" dirty="0">
                <a:solidFill>
                  <a:srgbClr val="7030A0"/>
                </a:solidFill>
              </a:rPr>
              <a:t> (</a:t>
            </a:r>
            <a:r>
              <a:rPr lang="ru-RU" dirty="0"/>
              <a:t>Основано на наблюдении, что - если нейроны с обеих сторон синапса активизируются одновременно и регулярно, то сила синаптической связи возрастает. Особенность правила в том, что изменение синаптического веса зависит только от активности нейронов, которые связаны данным синапсом). </a:t>
            </a:r>
            <a:endParaRPr lang="ru-RU" dirty="0">
              <a:solidFill>
                <a:srgbClr val="7030A0"/>
              </a:solidFill>
            </a:endParaRPr>
          </a:p>
          <a:p>
            <a:pPr algn="l" hangingPunct="0">
              <a:buFont typeface="Wingdings" pitchFamily="2" charset="2"/>
              <a:buChar char="Ø"/>
            </a:pPr>
            <a:r>
              <a:rPr lang="ru-RU" dirty="0">
                <a:solidFill>
                  <a:srgbClr val="7030A0"/>
                </a:solidFill>
              </a:rPr>
              <a:t>Обучение методом соревнования (</a:t>
            </a:r>
            <a:r>
              <a:rPr lang="ru-RU" dirty="0"/>
              <a:t>Используется явление, наблюдаемое в биологических сетях, смысл которого отражает фраза «победитель берет все». При обучении модифицируются веса только победившего нейрона).</a:t>
            </a:r>
          </a:p>
          <a:p>
            <a:pPr lvl="0" algn="l" hangingPunct="0">
              <a:buFont typeface="Wingdings" pitchFamily="2" charset="2"/>
              <a:buChar char="Ø"/>
            </a:pP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57167"/>
            <a:ext cx="7772400" cy="1071569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Известные типы сетей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42938" y="1643049"/>
            <a:ext cx="7772400" cy="4857783"/>
          </a:xfrm>
        </p:spPr>
        <p:txBody>
          <a:bodyPr>
            <a:normAutofit fontScale="70000" lnSpcReduction="20000"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4400" dirty="0">
                <a:solidFill>
                  <a:srgbClr val="0070C0"/>
                </a:solidFill>
              </a:rPr>
              <a:t>Перцептрон </a:t>
            </a:r>
            <a:r>
              <a:rPr lang="ru-RU" sz="4400" dirty="0" err="1">
                <a:solidFill>
                  <a:srgbClr val="0070C0"/>
                </a:solidFill>
              </a:rPr>
              <a:t>Розенблатта</a:t>
            </a:r>
            <a:r>
              <a:rPr lang="ru-RU" sz="4400" dirty="0">
                <a:solidFill>
                  <a:srgbClr val="0070C0"/>
                </a:solidFill>
              </a:rPr>
              <a:t>;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4400" dirty="0">
                <a:solidFill>
                  <a:srgbClr val="0070C0"/>
                </a:solidFill>
              </a:rPr>
              <a:t>Сплайн-модель Хакимова;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4400" dirty="0">
                <a:solidFill>
                  <a:srgbClr val="0070C0"/>
                </a:solidFill>
              </a:rPr>
              <a:t>Многослойный перцептрон </a:t>
            </a:r>
            <a:r>
              <a:rPr lang="ru-RU" sz="4400" dirty="0" err="1">
                <a:solidFill>
                  <a:srgbClr val="0070C0"/>
                </a:solidFill>
              </a:rPr>
              <a:t>Розенблатта</a:t>
            </a:r>
            <a:r>
              <a:rPr lang="ru-RU" sz="4400" dirty="0">
                <a:solidFill>
                  <a:srgbClr val="0070C0"/>
                </a:solidFill>
              </a:rPr>
              <a:t>;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4400" dirty="0">
                <a:solidFill>
                  <a:srgbClr val="0070C0"/>
                </a:solidFill>
              </a:rPr>
              <a:t>Многослойный перцептрон </a:t>
            </a:r>
            <a:r>
              <a:rPr lang="ru-RU" sz="4400" dirty="0" err="1">
                <a:solidFill>
                  <a:srgbClr val="0070C0"/>
                </a:solidFill>
              </a:rPr>
              <a:t>Румельхарта</a:t>
            </a:r>
            <a:r>
              <a:rPr lang="ru-RU" sz="4400" dirty="0">
                <a:solidFill>
                  <a:srgbClr val="0070C0"/>
                </a:solidFill>
              </a:rPr>
              <a:t>;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4400" dirty="0">
                <a:solidFill>
                  <a:srgbClr val="0070C0"/>
                </a:solidFill>
              </a:rPr>
              <a:t>Сеть Джордана;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4400" dirty="0">
                <a:solidFill>
                  <a:srgbClr val="0070C0"/>
                </a:solidFill>
              </a:rPr>
              <a:t>Сеть </a:t>
            </a:r>
            <a:r>
              <a:rPr lang="ru-RU" sz="4400" dirty="0" err="1">
                <a:solidFill>
                  <a:srgbClr val="0070C0"/>
                </a:solidFill>
              </a:rPr>
              <a:t>Элмана</a:t>
            </a:r>
            <a:r>
              <a:rPr lang="ru-RU" sz="4400" dirty="0">
                <a:solidFill>
                  <a:srgbClr val="0070C0"/>
                </a:solidFill>
              </a:rPr>
              <a:t>;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4400" dirty="0">
                <a:solidFill>
                  <a:srgbClr val="0070C0"/>
                </a:solidFill>
              </a:rPr>
              <a:t>Сеть Хэмминга;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4400" dirty="0">
                <a:solidFill>
                  <a:srgbClr val="0070C0"/>
                </a:solidFill>
              </a:rPr>
              <a:t>Сеть </a:t>
            </a:r>
            <a:r>
              <a:rPr lang="ru-RU" sz="4400" dirty="0" err="1">
                <a:solidFill>
                  <a:srgbClr val="0070C0"/>
                </a:solidFill>
              </a:rPr>
              <a:t>Ворда</a:t>
            </a:r>
            <a:r>
              <a:rPr lang="ru-RU" sz="4400" dirty="0">
                <a:solidFill>
                  <a:srgbClr val="0070C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63889_html_da2817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3" y="500042"/>
            <a:ext cx="8941552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57167"/>
            <a:ext cx="7772400" cy="623561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Современные направления развития НС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1124744"/>
            <a:ext cx="8568952" cy="5376089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Системы распознавания и классификации объектов на изображениях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Голосовые интерфейсы для интернета вещей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Системы мониторинга и обслуживания в кол-центрах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Замена ботами части функций операторов кол-центров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Системы выявления неполадок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Системы интеллектуальной безопасности и мониторинга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Системы </a:t>
            </a:r>
            <a:r>
              <a:rPr lang="ru-RU" sz="2400" dirty="0" err="1">
                <a:solidFill>
                  <a:srgbClr val="0070C0"/>
                </a:solidFill>
              </a:rPr>
              <a:t>видеоаналитики</a:t>
            </a:r>
            <a:endParaRPr lang="ru-RU" sz="2400" dirty="0">
              <a:solidFill>
                <a:srgbClr val="0070C0"/>
              </a:solidFill>
            </a:endParaRP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Оптимизация расположения объектов (склады, транспорт)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Управление производственными процессами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Перевод  «на лету» (для конференций)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70C0"/>
                </a:solidFill>
              </a:rPr>
              <a:t>Боты-консультанты технической поддержки</a:t>
            </a:r>
          </a:p>
        </p:txBody>
      </p:sp>
    </p:spTree>
    <p:extLst>
      <p:ext uri="{BB962C8B-B14F-4D97-AF65-F5344CB8AC3E}">
        <p14:creationId xmlns="" xmlns:p14="http://schemas.microsoft.com/office/powerpoint/2010/main" val="2346276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ru-RU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1600200"/>
            <a:ext cx="8229600" cy="471715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ЭТАПЫ РЕШЕНИЯ ЗАДАЧ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Сбор данных для обучения;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Подготовка и нормализация данных;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Выбор топологии сети;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Экспериментальный подбор характеристик сети;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Экспериментальный подбор параметров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ru-RU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гиперпараметров</a:t>
            </a: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обучения;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Собственно обучение;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Проверка адекватности обучения;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Корректировка параметров (</a:t>
            </a:r>
            <a:r>
              <a:rPr kumimoji="0" lang="ru-RU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гиперпараметров</a:t>
            </a: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), окончательное обучение;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Окончательное тестирование;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Выполнение задачи на рабочем наборе данных</a:t>
            </a: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064967" y="540647"/>
            <a:ext cx="546720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/>
              <a:t> </a:t>
            </a:r>
            <a:r>
              <a:rPr lang="ru-RU" sz="4400" b="1" dirty="0">
                <a:solidFill>
                  <a:srgbClr val="7030A0"/>
                </a:solidFill>
              </a:rPr>
              <a:t>Машинное обучение</a:t>
            </a:r>
            <a:endParaRPr lang="ru-RU" sz="4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Обобщение, переобучение и </a:t>
            </a:r>
            <a:r>
              <a:rPr kumimoji="0" lang="ru-RU" sz="3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недообучение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Обученная сеть должна хорошо работать на новых данных, которых  при обучении не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было </a:t>
            </a:r>
            <a:r>
              <a:rPr kumimoji="0" lang="ru-RU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(обобщение)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Нужно выбрать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обучающий набор, который используется для минимизации ошибки обучения, а затем используется тестовый набор. 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Факторов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определяющих качество работы алгоритма два: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Сделать ошибку обучения как можно меньше.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Сократить разрыв между ошибками обучения и тестирования.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Эти факторы соответствуют двум центральным проблемам машинного обучения: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Недообучению</a:t>
            </a:r>
            <a:r>
              <a:rPr kumimoji="0" lang="ru-RU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Модель не позволяет получить достаточно малую ошибку на обучающем наборе.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Переобучению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Разрыв между ошибками обучения и тестирования слишком велики.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Емкость модели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457200" y="1000108"/>
            <a:ext cx="8229600" cy="512605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Управлять склонностью модели к </a:t>
            </a:r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переобучению </a:t>
            </a: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или </a:t>
            </a:r>
            <a:r>
              <a:rPr kumimoji="0" lang="ru-RU" sz="22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недообучению</a:t>
            </a:r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позволяет её </a:t>
            </a:r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емкость. Емкость модели </a:t>
            </a: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описывает способность к аппроксимации широкого спектра функций.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Модели </a:t>
            </a:r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малой емкости </a:t>
            </a: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испытывают сложности в аппроксимации обучающего набора и, следовательно к </a:t>
            </a:r>
            <a:r>
              <a:rPr kumimoji="0" lang="ru-RU" sz="22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недообучению</a:t>
            </a: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Модели </a:t>
            </a:r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большой емкости </a:t>
            </a: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склонны к </a:t>
            </a:r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переобучению.</a:t>
            </a:r>
          </a:p>
          <a:p>
            <a:endParaRPr kumimoji="0" lang="ru-RU" sz="2200" b="1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Размерность </a:t>
            </a:r>
            <a:r>
              <a:rPr kumimoji="0" lang="ru-RU" sz="22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Вапника-Червоненкиса</a:t>
            </a:r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или </a:t>
            </a:r>
            <a:r>
              <a:rPr kumimoji="0" lang="en-US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0" lang="ru-RU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размерность </a:t>
            </a:r>
            <a:r>
              <a:rPr kumimoji="0" 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(м</a:t>
            </a:r>
            <a:r>
              <a:rPr lang="ru-RU" sz="2400" dirty="0" err="1" smtClean="0"/>
              <a:t>одель</a:t>
            </a:r>
            <a:r>
              <a:rPr lang="ru-RU" sz="2400" dirty="0" smtClean="0"/>
              <a:t> </a:t>
            </a:r>
            <a:r>
              <a:rPr lang="ru-RU" sz="2400" dirty="0" smtClean="0"/>
              <a:t>с низкой размерностью VC менее сложна и с большей вероятностью будет хорошо обобщаться, </a:t>
            </a:r>
            <a:r>
              <a:rPr lang="ru-RU" sz="2400" dirty="0" smtClean="0"/>
              <a:t>а с высокой размерностью более </a:t>
            </a:r>
            <a:r>
              <a:rPr lang="ru-RU" sz="2400" dirty="0" smtClean="0"/>
              <a:t>сложна и с большей вероятностью будет соответствовать обучающим </a:t>
            </a:r>
            <a:r>
              <a:rPr lang="ru-RU" sz="2400" dirty="0" smtClean="0"/>
              <a:t>данным)</a:t>
            </a:r>
            <a:endParaRPr lang="ru-RU" sz="2400" dirty="0" smtClean="0"/>
          </a:p>
          <a:p>
            <a:r>
              <a:rPr lang="ru-RU" sz="2400" dirty="0" smtClean="0"/>
              <a:t/>
            </a:r>
            <a:br>
              <a:rPr lang="ru-RU" sz="2400" dirty="0" smtClean="0"/>
            </a:br>
            <a:endParaRPr kumimoji="0" lang="ru-RU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7158" y="214290"/>
            <a:ext cx="857256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tx2">
                    <a:lumMod val="75000"/>
                  </a:schemeClr>
                </a:solidFill>
              </a:rPr>
              <a:t>Алгоритм построения многослойного персептрона:</a:t>
            </a:r>
          </a:p>
          <a:p>
            <a:pPr algn="ctr"/>
            <a:endParaRPr lang="ru-RU" sz="14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• Определить смысл закладываемый во входной вектор X (</a:t>
            </a:r>
            <a:r>
              <a:rPr lang="ru-RU" sz="2400" dirty="0" smtClean="0">
                <a:solidFill>
                  <a:srgbClr val="0070C0"/>
                </a:solidFill>
              </a:rPr>
              <a:t>должен содержать всю информацию, чтобы получить ответ</a:t>
            </a:r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). </a:t>
            </a:r>
          </a:p>
          <a:p>
            <a:endParaRPr lang="ru-RU" sz="1000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• Выбрать выходной вектор Y так, чтобы обеспечивался полный ответ для поставленной задачи. </a:t>
            </a:r>
          </a:p>
          <a:p>
            <a:endParaRPr lang="ru-RU" sz="1000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• Выбрать вид функции активации нейронов (</a:t>
            </a:r>
            <a:r>
              <a:rPr lang="ru-RU" sz="2400" dirty="0" smtClean="0">
                <a:solidFill>
                  <a:srgbClr val="0070C0"/>
                </a:solidFill>
              </a:rPr>
              <a:t>выбор влияет на скорость обучения</a:t>
            </a:r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). </a:t>
            </a:r>
          </a:p>
          <a:p>
            <a:endParaRPr lang="ru-RU" sz="1000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• Выбрать количество слоев и нейронов в слое. </a:t>
            </a:r>
          </a:p>
          <a:p>
            <a:endParaRPr lang="ru-RU" sz="1000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• Задать диапазон изменения входов, выходов, весов и пороговых уровней на основе выбранной функции активации. </a:t>
            </a:r>
          </a:p>
          <a:p>
            <a:endParaRPr lang="ru-RU" sz="1000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• Присвоить начальные значения весам и пороговым уровням (</a:t>
            </a:r>
            <a:r>
              <a:rPr lang="ru-RU" sz="2400" dirty="0" smtClean="0">
                <a:solidFill>
                  <a:srgbClr val="0070C0"/>
                </a:solidFill>
              </a:rPr>
              <a:t>слишком большие начальные  значения и слишком малые замедляют обучение</a:t>
            </a:r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). </a:t>
            </a:r>
          </a:p>
          <a:p>
            <a:endParaRPr lang="ru-RU" sz="1000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• Провести обучение </a:t>
            </a:r>
            <a:r>
              <a:rPr lang="ru-RU" sz="2400" dirty="0" smtClean="0">
                <a:solidFill>
                  <a:srgbClr val="0070C0"/>
                </a:solidFill>
              </a:rPr>
              <a:t>( то есть подобрать параметры сети</a:t>
            </a:r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</a:rPr>
              <a:t>). </a:t>
            </a:r>
            <a:endParaRPr lang="ru-R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7158" y="357166"/>
            <a:ext cx="835824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chemeClr val="accent4">
                    <a:lumMod val="75000"/>
                  </a:schemeClr>
                </a:solidFill>
              </a:rPr>
              <a:t>Типы </a:t>
            </a:r>
            <a:r>
              <a:rPr lang="ru-RU" sz="3200" b="1" dirty="0" err="1" smtClean="0">
                <a:solidFill>
                  <a:schemeClr val="accent4">
                    <a:lumMod val="75000"/>
                  </a:schemeClr>
                </a:solidFill>
              </a:rPr>
              <a:t>фреймворков</a:t>
            </a:r>
            <a:endParaRPr lang="ru-RU" sz="3200" b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ru-RU" sz="20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➢ Фиксированные модули (</a:t>
            </a:r>
            <a:r>
              <a:rPr lang="ru-RU" sz="2000" dirty="0" smtClean="0">
                <a:solidFill>
                  <a:srgbClr val="0070C0"/>
                </a:solidFill>
              </a:rPr>
              <a:t>из готовых блоков строят граф вычислений (</a:t>
            </a:r>
            <a:r>
              <a:rPr lang="ru-RU" sz="2000" dirty="0" err="1" smtClean="0">
                <a:solidFill>
                  <a:srgbClr val="0070C0"/>
                </a:solidFill>
              </a:rPr>
              <a:t>Caffe</a:t>
            </a:r>
            <a:r>
              <a:rPr lang="ru-RU" sz="2000" dirty="0" smtClean="0">
                <a:solidFill>
                  <a:srgbClr val="0070C0"/>
                </a:solidFill>
              </a:rPr>
              <a:t>, Caffe2,DL4J, </a:t>
            </a:r>
            <a:r>
              <a:rPr lang="ru-RU" sz="2000" dirty="0" err="1" smtClean="0">
                <a:solidFill>
                  <a:srgbClr val="0070C0"/>
                </a:solidFill>
              </a:rPr>
              <a:t>Keras</a:t>
            </a:r>
            <a:r>
              <a:rPr lang="ru-RU" sz="2000" dirty="0" smtClean="0">
                <a:solidFill>
                  <a:srgbClr val="0070C0"/>
                </a:solidFill>
              </a:rPr>
              <a:t>)</a:t>
            </a:r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).</a:t>
            </a:r>
          </a:p>
          <a:p>
            <a:endParaRPr lang="ru-RU" sz="20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➢ Статический граф вычислений (</a:t>
            </a:r>
            <a:r>
              <a:rPr lang="ru-RU" sz="2000" dirty="0" smtClean="0">
                <a:solidFill>
                  <a:srgbClr val="0070C0"/>
                </a:solidFill>
              </a:rPr>
              <a:t>сложный граф вычислений (</a:t>
            </a:r>
            <a:r>
              <a:rPr lang="ru-RU" sz="2000" dirty="0" err="1" smtClean="0">
                <a:solidFill>
                  <a:srgbClr val="0070C0"/>
                </a:solidFill>
              </a:rPr>
              <a:t>Theano</a:t>
            </a:r>
            <a:r>
              <a:rPr lang="ru-RU" sz="2000" dirty="0" smtClean="0">
                <a:solidFill>
                  <a:srgbClr val="0070C0"/>
                </a:solidFill>
              </a:rPr>
              <a:t>, </a:t>
            </a:r>
            <a:r>
              <a:rPr lang="ru-RU" sz="2000" dirty="0" err="1" smtClean="0">
                <a:solidFill>
                  <a:srgbClr val="0070C0"/>
                </a:solidFill>
              </a:rPr>
              <a:t>TensorFlow</a:t>
            </a:r>
            <a:r>
              <a:rPr lang="ru-RU" sz="2000" dirty="0" smtClean="0">
                <a:solidFill>
                  <a:srgbClr val="0070C0"/>
                </a:solidFill>
              </a:rPr>
              <a:t>, </a:t>
            </a:r>
            <a:r>
              <a:rPr lang="ru-RU" sz="2000" dirty="0" err="1" smtClean="0">
                <a:solidFill>
                  <a:srgbClr val="0070C0"/>
                </a:solidFill>
              </a:rPr>
              <a:t>MXNet</a:t>
            </a:r>
            <a:r>
              <a:rPr lang="ru-RU" sz="2000" dirty="0" smtClean="0">
                <a:solidFill>
                  <a:srgbClr val="0070C0"/>
                </a:solidFill>
              </a:rPr>
              <a:t>)</a:t>
            </a:r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).</a:t>
            </a:r>
          </a:p>
          <a:p>
            <a:endParaRPr lang="ru-RU" sz="20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➢ Динамический граф вычислений (</a:t>
            </a:r>
            <a:r>
              <a:rPr lang="ru-RU" sz="2000" dirty="0" smtClean="0">
                <a:solidFill>
                  <a:srgbClr val="0070C0"/>
                </a:solidFill>
              </a:rPr>
              <a:t>граф строится каждый раз при</a:t>
            </a:r>
          </a:p>
          <a:p>
            <a:r>
              <a:rPr lang="ru-RU" sz="2000" dirty="0" smtClean="0">
                <a:solidFill>
                  <a:srgbClr val="0070C0"/>
                </a:solidFill>
              </a:rPr>
              <a:t>прямом проходе, максимальная гибкость, расширяемость, проигрывает в</a:t>
            </a:r>
          </a:p>
          <a:p>
            <a:r>
              <a:rPr lang="ru-RU" sz="2000" dirty="0" smtClean="0">
                <a:solidFill>
                  <a:srgbClr val="0070C0"/>
                </a:solidFill>
              </a:rPr>
              <a:t>скорости (</a:t>
            </a:r>
            <a:r>
              <a:rPr lang="ru-RU" sz="2000" dirty="0" err="1" smtClean="0">
                <a:solidFill>
                  <a:srgbClr val="0070C0"/>
                </a:solidFill>
              </a:rPr>
              <a:t>Torch</a:t>
            </a:r>
            <a:r>
              <a:rPr lang="ru-RU" sz="2000" dirty="0" smtClean="0">
                <a:solidFill>
                  <a:srgbClr val="0070C0"/>
                </a:solidFill>
              </a:rPr>
              <a:t>, </a:t>
            </a:r>
            <a:r>
              <a:rPr lang="ru-RU" sz="2000" dirty="0" err="1" smtClean="0">
                <a:solidFill>
                  <a:srgbClr val="0070C0"/>
                </a:solidFill>
              </a:rPr>
              <a:t>PyTorch</a:t>
            </a:r>
            <a:r>
              <a:rPr lang="ru-RU" sz="2000" dirty="0" smtClean="0">
                <a:solidFill>
                  <a:srgbClr val="0070C0"/>
                </a:solidFill>
              </a:rPr>
              <a:t>)</a:t>
            </a:r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).</a:t>
            </a:r>
          </a:p>
          <a:p>
            <a:endParaRPr lang="ru-RU" sz="20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➢</a:t>
            </a:r>
            <a:r>
              <a:rPr lang="ru-RU" sz="2000" dirty="0" err="1" smtClean="0">
                <a:solidFill>
                  <a:schemeClr val="accent6">
                    <a:lumMod val="50000"/>
                  </a:schemeClr>
                </a:solidFill>
              </a:rPr>
              <a:t>Torch</a:t>
            </a:r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 — MATLAB-подобная библиотека для языка программирования </a:t>
            </a:r>
            <a:r>
              <a:rPr lang="ru-RU" sz="2000" dirty="0" err="1" smtClean="0">
                <a:solidFill>
                  <a:schemeClr val="accent6">
                    <a:lumMod val="50000"/>
                  </a:schemeClr>
                </a:solidFill>
              </a:rPr>
              <a:t>Lua</a:t>
            </a:r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 с открытым исходным кодом (</a:t>
            </a:r>
            <a:r>
              <a:rPr lang="ru-RU" sz="2000" dirty="0" smtClean="0">
                <a:solidFill>
                  <a:srgbClr val="0070C0"/>
                </a:solidFill>
              </a:rPr>
              <a:t>большое количество алгоритмов для глубинного обучения и научных расчётов, ядро написано на Си, прикладная часть выполняется на </a:t>
            </a:r>
            <a:r>
              <a:rPr lang="ru-RU" sz="2000" dirty="0" err="1" smtClean="0">
                <a:solidFill>
                  <a:srgbClr val="0070C0"/>
                </a:solidFill>
              </a:rPr>
              <a:t>LuaJIT</a:t>
            </a:r>
            <a:r>
              <a:rPr lang="ru-RU" sz="2000" dirty="0" smtClean="0">
                <a:solidFill>
                  <a:srgbClr val="0070C0"/>
                </a:solidFill>
              </a:rPr>
              <a:t>, поддерживается распараллеливание вычислений средствами </a:t>
            </a:r>
            <a:r>
              <a:rPr lang="ru-RU" sz="2000" dirty="0" err="1" smtClean="0">
                <a:solidFill>
                  <a:srgbClr val="0070C0"/>
                </a:solidFill>
              </a:rPr>
              <a:t>CUDAи</a:t>
            </a:r>
            <a:r>
              <a:rPr lang="ru-RU" sz="2000" dirty="0" smtClean="0">
                <a:solidFill>
                  <a:srgbClr val="0070C0"/>
                </a:solidFill>
              </a:rPr>
              <a:t> </a:t>
            </a:r>
            <a:r>
              <a:rPr lang="ru-RU" sz="2000" dirty="0" err="1" smtClean="0">
                <a:solidFill>
                  <a:srgbClr val="0070C0"/>
                </a:solidFill>
              </a:rPr>
              <a:t>OpenMP</a:t>
            </a:r>
            <a:r>
              <a:rPr lang="ru-RU" sz="2000" dirty="0" smtClean="0">
                <a:solidFill>
                  <a:schemeClr val="accent6">
                    <a:lumMod val="50000"/>
                  </a:schemeClr>
                </a:solidFill>
              </a:rPr>
              <a:t>).</a:t>
            </a:r>
            <a:endParaRPr lang="ru-RU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57167"/>
            <a:ext cx="7772400" cy="1071569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Нейрокомпьютеры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28662" y="1643050"/>
            <a:ext cx="7286676" cy="4214842"/>
          </a:xfrm>
        </p:spPr>
        <p:txBody>
          <a:bodyPr>
            <a:normAutofit/>
          </a:bodyPr>
          <a:lstStyle/>
          <a:p>
            <a:r>
              <a:rPr lang="ru-RU" sz="4400" dirty="0">
                <a:solidFill>
                  <a:srgbClr val="0070C0"/>
                </a:solidFill>
              </a:rPr>
              <a:t>Чаще всего реализуются </a:t>
            </a:r>
          </a:p>
          <a:p>
            <a:r>
              <a:rPr lang="ru-RU" sz="4400" dirty="0">
                <a:solidFill>
                  <a:srgbClr val="0070C0"/>
                </a:solidFill>
              </a:rPr>
              <a:t>в виде модуля параллельно работающих спецпроцессоров - </a:t>
            </a:r>
            <a:r>
              <a:rPr lang="ru-RU" sz="4400" dirty="0" err="1">
                <a:solidFill>
                  <a:srgbClr val="0070C0"/>
                </a:solidFill>
              </a:rPr>
              <a:t>нейровычислителей</a:t>
            </a:r>
            <a:endParaRPr lang="ru-RU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9220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57167"/>
            <a:ext cx="7772400" cy="642941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rgbClr val="0070C0"/>
                </a:solidFill>
              </a:rPr>
              <a:t>Особенности нейрокомпьютеров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85786" y="1357298"/>
            <a:ext cx="7786742" cy="5000660"/>
          </a:xfrm>
        </p:spPr>
        <p:txBody>
          <a:bodyPr/>
          <a:lstStyle/>
          <a:p>
            <a:pPr algn="l">
              <a:buFont typeface="Wingdings" pitchFamily="2" charset="2"/>
              <a:buChar char="Ø"/>
            </a:pPr>
            <a:r>
              <a:rPr lang="ru-RU" dirty="0">
                <a:solidFill>
                  <a:srgbClr val="7030A0"/>
                </a:solidFill>
              </a:rPr>
              <a:t>массовый параллелизм обработки; </a:t>
            </a:r>
          </a:p>
          <a:p>
            <a:pPr algn="l">
              <a:buFont typeface="Wingdings" pitchFamily="2" charset="2"/>
              <a:buChar char="Ø"/>
            </a:pPr>
            <a:r>
              <a:rPr lang="ru-RU" dirty="0">
                <a:solidFill>
                  <a:srgbClr val="7030A0"/>
                </a:solidFill>
              </a:rPr>
              <a:t>низкие  требования к стабильности и  	точности параметров элементарных 	узлов;</a:t>
            </a:r>
          </a:p>
          <a:p>
            <a:pPr algn="l">
              <a:buFont typeface="Wingdings" pitchFamily="2" charset="2"/>
              <a:buChar char="Ø"/>
            </a:pPr>
            <a:r>
              <a:rPr lang="ru-RU" dirty="0">
                <a:solidFill>
                  <a:srgbClr val="7030A0"/>
                </a:solidFill>
              </a:rPr>
              <a:t>устойчивость к помехам при большой 	размерности системы;</a:t>
            </a:r>
          </a:p>
          <a:p>
            <a:pPr algn="l">
              <a:buFont typeface="Wingdings" pitchFamily="2" charset="2"/>
              <a:buChar char="Ø"/>
            </a:pP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нейросистемы</a:t>
            </a:r>
            <a:r>
              <a:rPr lang="ru-RU" dirty="0">
                <a:solidFill>
                  <a:srgbClr val="7030A0"/>
                </a:solidFill>
              </a:rPr>
              <a:t> могут создаваться из 	низко надежных элементов, имеющих 	большой разброс параметров.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736"/>
            <a:ext cx="8759691" cy="4038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5715016"/>
            <a:ext cx="63912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8710630" cy="371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5357826"/>
            <a:ext cx="73914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785794"/>
            <a:ext cx="8929718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Для оценки производительности </a:t>
            </a:r>
            <a:r>
              <a:rPr kumimoji="0" lang="ru-RU" sz="28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нейровычислителей</a:t>
            </a: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используются следующие показатели: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CUPS (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connections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update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second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 - число измененных значений весов в секунду (оценивает скорость обучения).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CPS (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connections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second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 - число соединений (умножений с накоплением) в секунду (оценивает производительность).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CPSPW = CPS/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Nw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где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Nw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- число синапсов в нейроне.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CPPS - число соединений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примитовов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 секунду, CPPS=CPS*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Bw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*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Bs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где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Bw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Bs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- разрядность весов и синапсов.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MMAC - миллионов умножений с накоплением в секунду.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8263" y="200025"/>
            <a:ext cx="6467475" cy="645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14290"/>
            <a:ext cx="6467475" cy="645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642910" y="642918"/>
            <a:ext cx="8143932" cy="523149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6030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1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Каскадируемая</a:t>
            </a:r>
            <a:r>
              <a:rPr kumimoji="0" lang="ru-RU" sz="2800" b="1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архитектура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нейрочип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NNP 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фирмы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Асс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urate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Automation Corp.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представляет собой несколько 16-разрядных процессоров с памятью для хранения весовых коэффициентов.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процессоры связаны локальной внутренней шиной и имеют всего 9 команд. - в комплект поставки входит библиотека подпрограмм с реализованными 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нейросетевыми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алгоритмами.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1"/>
          <p:cNvSpPr>
            <a:spLocks noChangeArrowheads="1"/>
          </p:cNvSpPr>
          <p:nvPr/>
        </p:nvSpPr>
        <p:spPr bwMode="auto">
          <a:xfrm>
            <a:off x="1000100" y="357166"/>
            <a:ext cx="7000924" cy="513982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600" b="1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RBF-Архитектура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36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Пример:  чип Ni1000 (разработка фирмы </a:t>
            </a:r>
            <a:r>
              <a:rPr kumimoji="0" lang="ru-RU" sz="3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Intel</a:t>
            </a:r>
            <a:r>
              <a:rPr kumimoji="0" lang="ru-RU" sz="3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совместно с </a:t>
            </a:r>
            <a:r>
              <a:rPr kumimoji="0" lang="ru-RU" sz="3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Nestor</a:t>
            </a:r>
            <a:r>
              <a:rPr kumimoji="0" lang="ru-RU" sz="3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ru-RU" sz="36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содержится около 3 </a:t>
            </a:r>
            <a:r>
              <a:rPr kumimoji="0" lang="ru-RU" sz="3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млн</a:t>
            </a:r>
            <a:r>
              <a:rPr kumimoji="0" lang="ru-RU" sz="3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транзисторов, имитирующих 1024 нейрона</a:t>
            </a:r>
            <a:endParaRPr kumimoji="0" lang="ru-RU" sz="36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 быстродействие 33 </a:t>
            </a:r>
            <a:r>
              <a:rPr kumimoji="0" lang="ru-RU" sz="3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MГц</a:t>
            </a:r>
            <a:r>
              <a:rPr kumimoji="0" lang="ru-RU" sz="3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17 GIPS. </a:t>
            </a:r>
            <a:endParaRPr kumimoji="0" lang="ru-RU" sz="36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"/>
          <p:cNvSpPr>
            <a:spLocks noChangeArrowheads="1"/>
          </p:cNvSpPr>
          <p:nvPr/>
        </p:nvSpPr>
        <p:spPr bwMode="auto">
          <a:xfrm>
            <a:off x="500034" y="857232"/>
            <a:ext cx="8393349" cy="44627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Систолические </a:t>
            </a:r>
            <a:r>
              <a:rPr kumimoji="0" lang="ru-RU" sz="2800" b="1" i="1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нейропроцессоры</a:t>
            </a:r>
            <a:endParaRPr kumimoji="0" lang="ru-RU" sz="2800" b="1" i="1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используются процессорные матрицы из набора простых по структуре обрабатывающих элементов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-высокая степень распараллеливания процессов обработки информации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функция активации должна быть реализована в виде отдельного внешнего блока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1"/>
          <p:cNvSpPr>
            <a:spLocks noChangeArrowheads="1"/>
          </p:cNvSpPr>
          <p:nvPr/>
        </p:nvSpPr>
        <p:spPr bwMode="auto">
          <a:xfrm>
            <a:off x="571472" y="428604"/>
            <a:ext cx="8001056" cy="409338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1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Сигнальные процессоры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32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моделирование нейронных сетей на сигнальных процессорах осуществляется программным способом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легко модифицировать используемый алгоритм и структуру сети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1"/>
          <p:cNvSpPr>
            <a:spLocks noChangeArrowheads="1"/>
          </p:cNvSpPr>
          <p:nvPr/>
        </p:nvSpPr>
        <p:spPr bwMode="auto">
          <a:xfrm>
            <a:off x="285720" y="214290"/>
            <a:ext cx="8715436" cy="64324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1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Нейросигнальные</a:t>
            </a:r>
            <a:r>
              <a:rPr kumimoji="0" lang="ru-RU" sz="2400" b="1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процессоры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Пример: отечественный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нейропроцессор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NEUROMATRIX NM6403 фирмы НТЦ «Модуль».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Данный процессор состоит: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из основного 32-разрядного RISC-ядра и добавочного 64-разрядного векторного сопроцессора.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имеет стандартный интерфейс ввода-вывода, совместимый с портами TMS320C4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может работать с числами переменной разрядности от 1 до 64 бит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адресное пространство достигает 16 Гбайт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-имеет поддержку векторно-матричных и матрично-матричных операций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имеет поддержку двух типов функций насыщения на кристалле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производительность по скалярным операциям составляет 120 MIPS (32-разрядные операнды) и от 40 до 11 500 ММАС (миллионов умножений с накоплением в секунду).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1"/>
          <p:cNvSpPr>
            <a:spLocks noChangeArrowheads="1"/>
          </p:cNvSpPr>
          <p:nvPr/>
        </p:nvSpPr>
        <p:spPr bwMode="auto">
          <a:xfrm>
            <a:off x="357158" y="214290"/>
            <a:ext cx="8786842" cy="569381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1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ПЛИС  элементная база нейронных сетей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32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Причины: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появление на рынке высокочастотных ПЛИС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тенденция к снижению их цены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напряжение питания ПЛИС с каждым новым поколением уменьшается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Современные ПЛИС изготавливаются такими известными производителями, как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Altera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Atmel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Xilinx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многими другими.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"/>
          <p:cNvSpPr>
            <a:spLocks noChangeArrowheads="1"/>
          </p:cNvSpPr>
          <p:nvPr/>
        </p:nvSpPr>
        <p:spPr bwMode="auto">
          <a:xfrm>
            <a:off x="714348" y="285728"/>
            <a:ext cx="7786742" cy="49551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Процессоры общего назначения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1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большинство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нейросетевых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реализаций в настоящее время осуществляется на базе процессоров общего назначения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рост производительности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создана масса программ и программных библиотек, эмулирующих нейронные сети различных конфигураций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данные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нейросетевые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реализации осуществляются исключительно на программном уровне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1"/>
          <p:cNvSpPr>
            <a:spLocks noChangeArrowheads="1"/>
          </p:cNvSpPr>
          <p:nvPr/>
        </p:nvSpPr>
        <p:spPr bwMode="auto">
          <a:xfrm>
            <a:off x="857224" y="0"/>
            <a:ext cx="8001056" cy="532448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Аналоговая архитектура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нейроны в аналоговых СБИС представляют собой пороговые усилители с сигмовидной передаточной функцией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усиление передаточной функции определяет чувствительность нейрона и в предельном случае переводит нейрон из аналогового состояния в состояние, аналогичное цифровому вентилю.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 в аналоговой СБИС ETANN 80170NX фирмы INTEL содержится 64 нейрона с 64 входами соответственно и 16 нейронных слоев)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1"/>
          <p:cNvSpPr>
            <a:spLocks noChangeArrowheads="1"/>
          </p:cNvSpPr>
          <p:nvPr/>
        </p:nvSpPr>
        <p:spPr bwMode="auto">
          <a:xfrm>
            <a:off x="357158" y="357166"/>
            <a:ext cx="8429684" cy="532448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Гибридная архитектура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сочетает в себе цифровой и аналоговый подходы к аппаратному моделированию нейронных сетей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Пример: чип ANNA (AT &amp; T имеет цифровую внутреннюю архитектуру и аналоговый способ хранения весовых коэффициентов с использованием элементов динамической конденсаторной памяти.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Чип содержит до 256 нейронов и 4096 весовых коэффициентов. Производительность достигает 2,1 GIPS.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42910" y="428604"/>
            <a:ext cx="814393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rgbClr val="FF0000"/>
                </a:solidFill>
              </a:rPr>
              <a:t>Нейропроцессор</a:t>
            </a:r>
            <a:r>
              <a:rPr lang="ru-RU" sz="3200" b="1" dirty="0" smtClean="0">
                <a:solidFill>
                  <a:srgbClr val="FF0000"/>
                </a:solidFill>
              </a:rPr>
              <a:t> NM6408 </a:t>
            </a:r>
          </a:p>
          <a:p>
            <a:pPr algn="ctr"/>
            <a:r>
              <a:rPr lang="ru-RU" sz="2000" dirty="0" smtClean="0"/>
              <a:t>(разработал НТЦ «Модуль» и  запустил в серийное производство)</a:t>
            </a:r>
          </a:p>
          <a:p>
            <a:pPr algn="ctr"/>
            <a:endParaRPr lang="ru-RU" sz="2000" dirty="0" smtClean="0"/>
          </a:p>
          <a:p>
            <a:pPr>
              <a:buFontTx/>
              <a:buChar char="-"/>
            </a:pPr>
            <a:r>
              <a:rPr lang="ru-RU" sz="2800" dirty="0" smtClean="0"/>
              <a:t>21-ядерный чип (топология 28 нм)</a:t>
            </a:r>
          </a:p>
          <a:p>
            <a:pPr>
              <a:buFontTx/>
              <a:buChar char="-"/>
            </a:pPr>
            <a:endParaRPr lang="ru-RU" sz="2800" dirty="0" smtClean="0"/>
          </a:p>
          <a:p>
            <a:pPr>
              <a:buFontTx/>
              <a:buChar char="-"/>
            </a:pPr>
            <a:r>
              <a:rPr lang="ru-RU" sz="2800" dirty="0" smtClean="0"/>
              <a:t> реализован как вычислительный ускоритель для серверов</a:t>
            </a:r>
          </a:p>
          <a:p>
            <a:pPr>
              <a:buFontTx/>
              <a:buChar char="-"/>
            </a:pPr>
            <a:endParaRPr lang="ru-RU" sz="2800" dirty="0" smtClean="0"/>
          </a:p>
          <a:p>
            <a:pPr>
              <a:buFontTx/>
              <a:buChar char="-"/>
            </a:pPr>
            <a:r>
              <a:rPr lang="ru-RU" sz="2800" dirty="0" smtClean="0"/>
              <a:t> обладает пиковой производительностью в 512 ГФЛОПС (</a:t>
            </a:r>
            <a:r>
              <a:rPr lang="ru-RU" sz="2800" dirty="0" err="1" smtClean="0"/>
              <a:t>млрд</a:t>
            </a:r>
            <a:r>
              <a:rPr lang="ru-RU" sz="2800" dirty="0" smtClean="0"/>
              <a:t> опер в сек) </a:t>
            </a:r>
          </a:p>
          <a:p>
            <a:pPr>
              <a:buFontTx/>
              <a:buChar char="-"/>
            </a:pPr>
            <a:endParaRPr lang="ru-RU" sz="2800" dirty="0" smtClean="0"/>
          </a:p>
          <a:p>
            <a:pPr>
              <a:buFontTx/>
              <a:buChar char="-"/>
            </a:pPr>
            <a:r>
              <a:rPr lang="ru-RU" sz="2800" dirty="0" smtClean="0"/>
              <a:t> ориентирован на обработку больших потоков данных в реальном времени</a:t>
            </a:r>
            <a:endParaRPr lang="ru-RU" sz="2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5"/>
            <a:ext cx="8715404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2450</Words>
  <Application>Microsoft Office PowerPoint</Application>
  <PresentationFormat>Экран (4:3)</PresentationFormat>
  <Paragraphs>634</Paragraphs>
  <Slides>60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1" baseType="lpstr">
      <vt:lpstr>Тема Office</vt:lpstr>
      <vt:lpstr>Нейронные сети</vt:lpstr>
      <vt:lpstr>В основе лежит машинное обучение.</vt:lpstr>
      <vt:lpstr>Обучение на основе нейронных сетей </vt:lpstr>
      <vt:lpstr>Современная нейроинформатика включает:</vt:lpstr>
      <vt:lpstr>Особенности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Искусственный нейрон</vt:lpstr>
      <vt:lpstr>Биологический нейрон</vt:lpstr>
      <vt:lpstr>Слайд 23</vt:lpstr>
      <vt:lpstr>Классы нейронов</vt:lpstr>
      <vt:lpstr>Модель нейрона МакКаллока-Питтса</vt:lpstr>
      <vt:lpstr>Слайд 26</vt:lpstr>
      <vt:lpstr>Слайд 27</vt:lpstr>
      <vt:lpstr>Двухслойная сеть обратного распространения</vt:lpstr>
      <vt:lpstr>Обобщенный алгоритм сети обратного распространения</vt:lpstr>
      <vt:lpstr>Слайд 30</vt:lpstr>
      <vt:lpstr>Направления обучения</vt:lpstr>
      <vt:lpstr>Слайд 32</vt:lpstr>
      <vt:lpstr>Слайд 33</vt:lpstr>
      <vt:lpstr>Фундаментальные свойства</vt:lpstr>
      <vt:lpstr>Типы правил обучения</vt:lpstr>
      <vt:lpstr>Известные типы сетей</vt:lpstr>
      <vt:lpstr>Слайд 37</vt:lpstr>
      <vt:lpstr>Современные направления развития НС</vt:lpstr>
      <vt:lpstr>Слайд 39</vt:lpstr>
      <vt:lpstr>Слайд 40</vt:lpstr>
      <vt:lpstr>Слайд 41</vt:lpstr>
      <vt:lpstr>Слайд 42</vt:lpstr>
      <vt:lpstr>Слайд 43</vt:lpstr>
      <vt:lpstr>Нейрокомпьютеры</vt:lpstr>
      <vt:lpstr>Особенности нейрокомпьютеров</vt:lpstr>
      <vt:lpstr>Слайд 46</vt:lpstr>
      <vt:lpstr>Слайд 47</vt:lpstr>
      <vt:lpstr>Слайд 48</vt:lpstr>
      <vt:lpstr>Слайд 49</vt:lpstr>
      <vt:lpstr>Слайд 50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  <vt:lpstr>Слайд 60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Евгений</dc:creator>
  <cp:lastModifiedBy>Win 10 Pro</cp:lastModifiedBy>
  <cp:revision>232</cp:revision>
  <dcterms:created xsi:type="dcterms:W3CDTF">2015-09-09T21:47:50Z</dcterms:created>
  <dcterms:modified xsi:type="dcterms:W3CDTF">2023-12-14T22:54:45Z</dcterms:modified>
</cp:coreProperties>
</file>